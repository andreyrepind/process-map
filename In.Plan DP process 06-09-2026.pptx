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70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6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истории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качества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истории Sell-In, Sell-Out, Off-Take и пропуски</a:t>
            </a:r>
          </a:p>
          <a:p>
            <a:r>
              <a:rPr sz="900" b="0"/>
              <a:t>Новые и изменённые DFU, маппинг SKU</a:t>
            </a:r>
          </a:p>
          <a:p>
            <a:r>
              <a:rPr sz="900" b="0"/>
              <a:t>Единицы измерения, дубли, отрицательные значения</a:t>
            </a:r>
          </a:p>
          <a:p>
            <a:r>
              <a:rPr sz="900" b="0"/>
              <a:t>Блокировка запуска расчёта при отказе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25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сопоставимой истории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397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OOS, выбросы, промо, ML-очистка</a:t>
            </a:r>
          </a:p>
          <a:p>
            <a:r>
              <a:rPr sz="900" b="0"/>
              <a:t>Перенос истории при смене схемы</a:t>
            </a:r>
          </a:p>
          <a:p>
            <a:r>
              <a:rPr sz="900" b="0"/>
              <a:t>Замена SKU через DFU</a:t>
            </a:r>
          </a:p>
          <a:p>
            <a:r>
              <a:rPr sz="900" b="0"/>
              <a:t>Исключения планеру</a:t>
            </a:r>
          </a:p>
        </p:txBody>
      </p:sp>
      <p:sp>
        <p:nvSpPr>
          <p:cNvPr id="8" name="Rectangle 7"/>
          <p:cNvSpPr/>
          <p:nvPr/>
        </p:nvSpPr>
        <p:spPr>
          <a:xfrm>
            <a:off x="3940000" y="980000"/>
            <a:ext cx="2030000" cy="6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прогноза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Сегментация/кластеризация и настройка методов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0" y="1760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ABC/XYZ, непрерывность, тренд</a:t>
            </a:r>
          </a:p>
          <a:p>
            <a:r>
              <a:rPr sz="900" b="0"/>
              <a:t>ML-кластеризация, сезонность</a:t>
            </a:r>
          </a:p>
          <a:p>
            <a:r>
              <a:rPr sz="900" b="0"/>
              <a:t>Тестирование временных рядов</a:t>
            </a:r>
          </a:p>
          <a:p>
            <a:r>
              <a:rPr sz="900" b="0"/>
              <a:t>Привязка методов и параметров к сегменту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275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Ассортимент: методы и чемпион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347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Статистика, ансамбли, ML</a:t>
            </a:r>
          </a:p>
          <a:p>
            <a:r>
              <a:rPr sz="900" b="0"/>
              <a:t>Backtest, чемпион для серии</a:t>
            </a:r>
          </a:p>
          <a:p>
            <a:r>
              <a:rPr sz="900" b="0"/>
              <a:t>Запуск по настройкам сегмента и расписанию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0" y="429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Новинки: похожие товары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0" y="501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Референс, коэффициент, даты действия</a:t>
            </a:r>
          </a:p>
          <a:p>
            <a:r>
              <a:rPr sz="900" b="0"/>
              <a:t>Правило подобия</a:t>
            </a:r>
          </a:p>
          <a:p>
            <a:r>
              <a:rPr sz="900" b="0"/>
              <a:t>Коэффициенты каннибализации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000" y="583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Промо light: прогноз промо-объёмов (опционально)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0" y="655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Календарь акций и механик</a:t>
            </a:r>
          </a:p>
          <a:p>
            <a:r>
              <a:rPr sz="900" b="0"/>
              <a:t>Промо-объёмы по промо-эффектам из истории</a:t>
            </a:r>
          </a:p>
          <a:p>
            <a:r>
              <a:rPr sz="900" b="0"/>
              <a:t>Промо-план из TPM/NRM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000" y="7376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Передача базового прогноза в NRM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0000" y="980000"/>
            <a:ext cx="2030000" cy="6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Sell-In по модели канала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Прямые каналы: прямой прогноз Sell-In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60000" y="181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Sell-Out → баланс → Sell-In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60000" y="253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Остатки, транзит, открытые заказы, целевой запас</a:t>
            </a:r>
          </a:p>
          <a:p>
            <a:r>
              <a:rPr sz="900" b="0"/>
              <a:t>Прогнозный остаток и дни покрытия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60000" y="980000"/>
            <a:ext cx="2030000" cy="6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Обогащение и согласование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Building Blocks и корректировки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0000" y="1760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Объёмные, процентные, замещающие блоки</a:t>
            </a:r>
          </a:p>
          <a:p>
            <a:r>
              <a:rPr sz="900" b="0"/>
              <a:t>Листинг, делистинг, запуск новинок</a:t>
            </a:r>
          </a:p>
          <a:p>
            <a:r>
              <a:rPr sz="900" b="0"/>
              <a:t>Распределение вниз, пересчёт вверх</a:t>
            </a:r>
          </a:p>
          <a:p>
            <a:r>
              <a:rPr sz="900" b="0"/>
              <a:t>Версии, аудит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0000" y="308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Demand Review Meeting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0000" y="3806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Дашборды и отчёты для DRM</a:t>
            </a:r>
          </a:p>
          <a:p>
            <a:r>
              <a:rPr sz="900" b="0"/>
              <a:t>Консенсус в объёме и в деньгах</a:t>
            </a:r>
          </a:p>
          <a:p>
            <a:r>
              <a:rPr sz="900" b="0"/>
              <a:t>Версии и сценарный анализ</a:t>
            </a:r>
          </a:p>
          <a:p>
            <a:r>
              <a:rPr sz="900" b="0"/>
              <a:t>Согласование исключений</a:t>
            </a:r>
          </a:p>
          <a:p>
            <a:r>
              <a:rPr sz="900" b="0"/>
              <a:t>Согласованный план спроса Sell-In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20000" y="980000"/>
            <a:ext cx="2030000" cy="6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Публикация и контроль точности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Публикация плана спроса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8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DFU → SKU, публикация с лагом</a:t>
            </a:r>
          </a:p>
          <a:p>
            <a:r>
              <a:rPr sz="900" b="0"/>
              <a:t>Передача плана в SNP и MEIO</a:t>
            </a:r>
          </a:p>
          <a:p>
            <a:r>
              <a:rPr sz="900" b="0"/>
              <a:t>Версия и дата фиксации плана</a:t>
            </a:r>
          </a:p>
          <a:p>
            <a:r>
              <a:rPr sz="900" b="0"/>
              <a:t>Архив прогнозов по лагам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8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Сверка с ограниченным планом SNP и решение по разрыву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0000" y="330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Ограниченный план из SNP</a:t>
            </a:r>
          </a:p>
          <a:p>
            <a:r>
              <a:rPr sz="900" b="0"/>
              <a:t>Дефициты и избытки по периодам</a:t>
            </a:r>
          </a:p>
          <a:p>
            <a:r>
              <a:rPr sz="900" b="0"/>
              <a:t>Приоритизация клиентов и SKU</a:t>
            </a:r>
          </a:p>
          <a:p>
            <a:r>
              <a:rPr sz="900" b="0"/>
              <a:t>Решение по разрыву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80000" y="412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Контроль точности и FVA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0000" y="4844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FA, MAPE, BIAS, WAPE по версии и лагу</a:t>
            </a:r>
          </a:p>
          <a:p>
            <a:r>
              <a:rPr sz="900" b="0"/>
              <a:t>FVA: наивный → статистика → Building Blocks → консенсус</a:t>
            </a:r>
          </a:p>
          <a:p>
            <a:r>
              <a:rPr sz="900" b="0"/>
              <a:t>BIAS по авторам корректировок</a:t>
            </a:r>
          </a:p>
          <a:p>
            <a:r>
              <a:rPr sz="900" b="0"/>
              <a:t>Дашборды точности и эффективности моделей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80000" y="617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0000" y="6890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точность ниже порога по FA или BIAS</a:t>
            </a:r>
          </a:p>
          <a:p>
            <a:r>
              <a:rPr sz="900" b="0"/>
              <a:t>Предупреждение: разрыв с ограниченным планом SNP</a:t>
            </a:r>
          </a:p>
          <a:p>
            <a:r>
              <a:rPr sz="900" b="0"/>
              <a:t>Предупреждение: прогноз без истории по новому DFU</a:t>
            </a:r>
          </a:p>
          <a:p>
            <a:r>
              <a:rPr sz="900" b="0"/>
              <a:t>Предупреждение: ручная корректировка без обоснования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80000" y="8384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Передача неограниченного плана спроса в SNP и MEIO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История продаж и заказы из ERP / DWH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000" y="1793333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Промо-план из TPM/NRM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000" y="2606666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Sell-Out, остатки и транзит клиента по EDI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00" y="3419999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Открытые заказы сетей и дистрибьюторов по EDI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000" y="423333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Категорийный менеджмент: проверка BB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000" y="5046665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Коммерческие финансы: цены, оценка в деньгах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000" y="5859998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Получение ограниченного плана из модуля SNP</a:t>
            </a:r>
          </a:p>
        </p:txBody>
      </p:sp>
      <p:cxnSp>
        <p:nvCxnSpPr>
          <p:cNvPr id="48" name="Connector 47"/>
          <p:cNvCxnSpPr>
            <a:stCxn id="4" idx="2"/>
            <a:endCxn id="6" idx="0"/>
          </p:cNvCxnSpPr>
          <p:nvPr/>
        </p:nvCxnSpPr>
        <p:spPr>
          <a:xfrm>
            <a:off x="28950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6" idx="0"/>
            <a:endCxn id="10" idx="2"/>
          </p:cNvCxnSpPr>
          <p:nvPr/>
        </p:nvCxnSpPr>
        <p:spPr>
          <a:xfrm flipV="1">
            <a:off x="2895000" y="1660000"/>
            <a:ext cx="206000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stCxn id="10" idx="2"/>
            <a:endCxn id="12" idx="0"/>
          </p:cNvCxnSpPr>
          <p:nvPr/>
        </p:nvCxnSpPr>
        <p:spPr>
          <a:xfrm>
            <a:off x="4955000" y="1660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stCxn id="10" idx="2"/>
            <a:endCxn id="14" idx="0"/>
          </p:cNvCxnSpPr>
          <p:nvPr/>
        </p:nvCxnSpPr>
        <p:spPr>
          <a:xfrm>
            <a:off x="4955000" y="1660000"/>
            <a:ext cx="0" cy="263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stCxn id="12" idx="2"/>
            <a:endCxn id="16" idx="0"/>
          </p:cNvCxnSpPr>
          <p:nvPr/>
        </p:nvCxnSpPr>
        <p:spPr>
          <a:xfrm>
            <a:off x="4955000" y="3370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stCxn id="14" idx="2"/>
            <a:endCxn id="16" idx="0"/>
          </p:cNvCxnSpPr>
          <p:nvPr/>
        </p:nvCxnSpPr>
        <p:spPr>
          <a:xfrm>
            <a:off x="4955000" y="4912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>
            <a:stCxn id="16" idx="0"/>
            <a:endCxn id="21" idx="2"/>
          </p:cNvCxnSpPr>
          <p:nvPr/>
        </p:nvCxnSpPr>
        <p:spPr>
          <a:xfrm flipV="1">
            <a:off x="4955000" y="1660000"/>
            <a:ext cx="2060000" cy="41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stCxn id="16" idx="0"/>
            <a:endCxn id="22" idx="2"/>
          </p:cNvCxnSpPr>
          <p:nvPr/>
        </p:nvCxnSpPr>
        <p:spPr>
          <a:xfrm flipV="1">
            <a:off x="4955000" y="2430000"/>
            <a:ext cx="2060000" cy="340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stCxn id="21" idx="3"/>
            <a:endCxn id="26" idx="1"/>
          </p:cNvCxnSpPr>
          <p:nvPr/>
        </p:nvCxnSpPr>
        <p:spPr>
          <a:xfrm>
            <a:off x="7970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22" idx="3"/>
            <a:endCxn id="26" idx="1"/>
          </p:cNvCxnSpPr>
          <p:nvPr/>
        </p:nvCxnSpPr>
        <p:spPr>
          <a:xfrm flipV="1">
            <a:off x="7970000" y="1350000"/>
            <a:ext cx="150000" cy="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26" idx="2"/>
            <a:endCxn id="28" idx="0"/>
          </p:cNvCxnSpPr>
          <p:nvPr/>
        </p:nvCxnSpPr>
        <p:spPr>
          <a:xfrm>
            <a:off x="9075000" y="1660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28" idx="3"/>
            <a:endCxn id="32" idx="1"/>
          </p:cNvCxnSpPr>
          <p:nvPr/>
        </p:nvCxnSpPr>
        <p:spPr>
          <a:xfrm flipV="1">
            <a:off x="10030000" y="1350000"/>
            <a:ext cx="150000" cy="204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32" idx="2"/>
            <a:endCxn id="34" idx="0"/>
          </p:cNvCxnSpPr>
          <p:nvPr/>
        </p:nvCxnSpPr>
        <p:spPr>
          <a:xfrm>
            <a:off x="1113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32" idx="2"/>
            <a:endCxn id="36" idx="0"/>
          </p:cNvCxnSpPr>
          <p:nvPr/>
        </p:nvCxnSpPr>
        <p:spPr>
          <a:xfrm>
            <a:off x="11135000" y="1660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stCxn id="36" idx="1"/>
            <a:endCxn id="10" idx="3"/>
          </p:cNvCxnSpPr>
          <p:nvPr/>
        </p:nvCxnSpPr>
        <p:spPr>
          <a:xfrm flipH="1" flipV="1">
            <a:off x="5910000" y="1350000"/>
            <a:ext cx="4270000" cy="308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>
            <a:stCxn id="36" idx="2"/>
            <a:endCxn id="38" idx="0"/>
          </p:cNvCxnSpPr>
          <p:nvPr/>
        </p:nvCxnSpPr>
        <p:spPr>
          <a:xfrm>
            <a:off x="11135000" y="4744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stCxn id="41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stCxn id="42" idx="3"/>
            <a:endCxn id="16" idx="1"/>
          </p:cNvCxnSpPr>
          <p:nvPr/>
        </p:nvCxnSpPr>
        <p:spPr>
          <a:xfrm>
            <a:off x="1700000" y="2103333"/>
            <a:ext cx="2300000" cy="404066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stCxn id="12" idx="2"/>
            <a:endCxn id="18" idx="0"/>
          </p:cNvCxnSpPr>
          <p:nvPr/>
        </p:nvCxnSpPr>
        <p:spPr>
          <a:xfrm>
            <a:off x="4955000" y="3370000"/>
            <a:ext cx="0" cy="400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stCxn id="43" idx="3"/>
            <a:endCxn id="22" idx="1"/>
          </p:cNvCxnSpPr>
          <p:nvPr/>
        </p:nvCxnSpPr>
        <p:spPr>
          <a:xfrm flipV="1">
            <a:off x="1700000" y="2120000"/>
            <a:ext cx="4360000" cy="79666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stCxn id="44" idx="3"/>
            <a:endCxn id="22" idx="1"/>
          </p:cNvCxnSpPr>
          <p:nvPr/>
        </p:nvCxnSpPr>
        <p:spPr>
          <a:xfrm flipV="1">
            <a:off x="1700000" y="2120000"/>
            <a:ext cx="4360000" cy="16099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stCxn id="45" idx="3"/>
            <a:endCxn id="26" idx="1"/>
          </p:cNvCxnSpPr>
          <p:nvPr/>
        </p:nvCxnSpPr>
        <p:spPr>
          <a:xfrm flipV="1">
            <a:off x="1700000" y="1350000"/>
            <a:ext cx="6420000" cy="31933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stCxn id="46" idx="3"/>
            <a:endCxn id="28" idx="1"/>
          </p:cNvCxnSpPr>
          <p:nvPr/>
        </p:nvCxnSpPr>
        <p:spPr>
          <a:xfrm flipV="1">
            <a:off x="1700000" y="3396000"/>
            <a:ext cx="6420000" cy="196066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47" idx="3"/>
            <a:endCxn id="34" idx="1"/>
          </p:cNvCxnSpPr>
          <p:nvPr/>
        </p:nvCxnSpPr>
        <p:spPr>
          <a:xfrm flipV="1">
            <a:off x="1700000" y="2892000"/>
            <a:ext cx="8480000" cy="327799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>
            <a:stCxn id="32" idx="2"/>
            <a:endCxn id="40" idx="0"/>
          </p:cNvCxnSpPr>
          <p:nvPr/>
        </p:nvCxnSpPr>
        <p:spPr>
          <a:xfrm>
            <a:off x="11135000" y="1660000"/>
            <a:ext cx="0" cy="672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