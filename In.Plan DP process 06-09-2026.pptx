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75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80000" y="980000"/>
            <a:ext cx="2030000" cy="6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80000" y="500000"/>
            <a:ext cx="2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Подготовка истории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40000" y="104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Проверка качества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0000" y="1760000"/>
            <a:ext cx="1910000" cy="13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Полнота истории Sell-In, Sell-Out, Off-Take и пропуски</a:t>
            </a:r>
          </a:p>
          <a:p>
            <a:r>
              <a:rPr sz="900" b="0"/>
              <a:t>Новые и изменённые DFU, маппинг SKU</a:t>
            </a:r>
          </a:p>
          <a:p>
            <a:r>
              <a:rPr sz="900" b="0"/>
              <a:t>Единицы измерения, дубли, отрицательные значения</a:t>
            </a:r>
          </a:p>
          <a:p>
            <a:r>
              <a:rPr sz="900" b="0"/>
              <a:t>Критическая ошибка — стоп, локальная — карантин рядов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40000" y="3254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Подготовка сопоставимой истории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0000" y="3974000"/>
            <a:ext cx="1910000" cy="6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OOS, выбросы, промо, ML-очистка</a:t>
            </a:r>
          </a:p>
          <a:p>
            <a:r>
              <a:rPr sz="900" b="0"/>
              <a:t>Перенос истории при смене схемы</a:t>
            </a:r>
          </a:p>
          <a:p>
            <a:r>
              <a:rPr sz="900" b="0"/>
              <a:t>Замена SKU через DFU</a:t>
            </a:r>
          </a:p>
          <a:p>
            <a:r>
              <a:rPr sz="900" b="0"/>
              <a:t>Исключения планеру</a:t>
            </a:r>
          </a:p>
        </p:txBody>
      </p:sp>
      <p:sp>
        <p:nvSpPr>
          <p:cNvPr id="8" name="Rectangle 7"/>
          <p:cNvSpPr/>
          <p:nvPr/>
        </p:nvSpPr>
        <p:spPr>
          <a:xfrm>
            <a:off x="3940000" y="980000"/>
            <a:ext cx="2030000" cy="6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40000" y="500000"/>
            <a:ext cx="2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Расчёт прогноза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0000" y="104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Сегментация/кластеризация и настройка методов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000" y="1760000"/>
            <a:ext cx="191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ABC/XYZ, непрерывность, тренд</a:t>
            </a:r>
          </a:p>
          <a:p>
            <a:r>
              <a:rPr sz="900" b="0"/>
              <a:t>ML-кластеризация, сезонность</a:t>
            </a:r>
          </a:p>
          <a:p>
            <a:r>
              <a:rPr sz="900" b="0"/>
              <a:t>Тестирование временных рядов</a:t>
            </a:r>
          </a:p>
          <a:p>
            <a:r>
              <a:rPr sz="900" b="0"/>
              <a:t>Привязка методов и параметров к сегменту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000" y="275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Ассортимент: методы и чемпион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0000" y="3470000"/>
            <a:ext cx="1910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Статистика, ансамбли, ML</a:t>
            </a:r>
          </a:p>
          <a:p>
            <a:r>
              <a:rPr sz="900" b="0"/>
              <a:t>Backtest, чемпион для серии</a:t>
            </a:r>
          </a:p>
          <a:p>
            <a:r>
              <a:rPr sz="900" b="0"/>
              <a:t>Запуск по настройкам сегмента и расписанию</a:t>
            </a:r>
          </a:p>
          <a:p>
            <a:r>
              <a:rPr sz="900" b="0"/>
              <a:t>Ассортимент на период прогноза: запуски и выводы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0000" y="4628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Новинки: похожие товары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000" y="5348000"/>
            <a:ext cx="1910000" cy="6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Референс, коэффициент, даты действия</a:t>
            </a:r>
          </a:p>
          <a:p>
            <a:r>
              <a:rPr sz="900" b="0"/>
              <a:t>Правило подобия</a:t>
            </a:r>
          </a:p>
          <a:p>
            <a:r>
              <a:rPr sz="900" b="0"/>
              <a:t>Коэффициенты каннибализации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0000" y="617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Промо light: прогноз промо-объёмов (опционально)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0" y="6890000"/>
            <a:ext cx="1910000" cy="6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Календарь акций и механик</a:t>
            </a:r>
          </a:p>
          <a:p>
            <a:r>
              <a:rPr sz="900" b="0"/>
              <a:t>Промо-объёмы по промо-эффектам из истории</a:t>
            </a:r>
          </a:p>
          <a:p>
            <a:r>
              <a:rPr sz="900" b="0"/>
              <a:t>Промо-план из TPM/NRM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000" y="7712000"/>
            <a:ext cx="191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Передача базового прогноза в NRM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00000" y="980000"/>
            <a:ext cx="2030000" cy="6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0000" y="500000"/>
            <a:ext cx="2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Sell-In по модели канала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0000" y="104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Прямые каналы: прямой прогноз Sell-In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0000" y="1760000"/>
            <a:ext cx="1910000" cy="3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Маршрут клиента — по модели канала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60000" y="2246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Sell-Out → баланс → Sell-In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0000" y="2966000"/>
            <a:ext cx="1910000" cy="6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Остатки, транзит, открытые заказы, целевой запас</a:t>
            </a:r>
          </a:p>
          <a:p>
            <a:r>
              <a:rPr sz="900" b="0"/>
              <a:t>Прогнозный остаток и дни покрытия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0000" y="980000"/>
            <a:ext cx="2030000" cy="6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0000" y="500000"/>
            <a:ext cx="2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Обогащение и согласование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0000" y="104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Building Blocks и корректировки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0000" y="1760000"/>
            <a:ext cx="1910000" cy="1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Объёмные, процентные, замещающие блоки</a:t>
            </a:r>
          </a:p>
          <a:p>
            <a:r>
              <a:rPr sz="900" b="0"/>
              <a:t>Листинг, делистинг, запуск новинок</a:t>
            </a:r>
          </a:p>
          <a:p>
            <a:r>
              <a:rPr sz="900" b="0"/>
              <a:t>Распределение вниз, пересчёт вверх</a:t>
            </a:r>
          </a:p>
          <a:p>
            <a:r>
              <a:rPr sz="900" b="0"/>
              <a:t>Версии, аудит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0000" y="3086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Demand Review Meeting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0000" y="3806000"/>
            <a:ext cx="1910000" cy="1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Дашборды и отчёты для DRM</a:t>
            </a:r>
          </a:p>
          <a:p>
            <a:r>
              <a:rPr sz="900" b="0"/>
              <a:t>Коммерческие допущения Sales/KAM</a:t>
            </a:r>
          </a:p>
          <a:p>
            <a:r>
              <a:rPr sz="900" b="0"/>
              <a:t>Консенсус в объёме и в деньгах</a:t>
            </a:r>
          </a:p>
          <a:p>
            <a:r>
              <a:rPr sz="900" b="0"/>
              <a:t>Версии и сценарный анализ</a:t>
            </a:r>
          </a:p>
          <a:p>
            <a:r>
              <a:rPr sz="900" b="0"/>
              <a:t>Решения по расхождениям и исключениям</a:t>
            </a:r>
          </a:p>
          <a:p>
            <a:r>
              <a:rPr sz="900" b="0"/>
              <a:t>Утверждение версии плана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20000" y="980000"/>
            <a:ext cx="2030000" cy="6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20000" y="500000"/>
            <a:ext cx="2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Публикация и контроль точности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80000" y="104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Публикация плана спроса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0000" y="1760000"/>
            <a:ext cx="1910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DFU → SKU, публикация с лагом</a:t>
            </a:r>
          </a:p>
          <a:p>
            <a:r>
              <a:rPr sz="900" b="0"/>
              <a:t>Передача плана в SNP и MEIO</a:t>
            </a:r>
          </a:p>
          <a:p>
            <a:r>
              <a:rPr sz="900" b="0"/>
              <a:t>Версия и дата фиксации плана</a:t>
            </a:r>
          </a:p>
          <a:p>
            <a:r>
              <a:rPr sz="900" b="0"/>
              <a:t>Архив прогнозов по лагам</a:t>
            </a:r>
          </a:p>
          <a:p>
            <a:r>
              <a:rPr sz="900" b="0"/>
              <a:t>Без вычета заказов: поглощение — в SNP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80000" y="2918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Сверка с ограниченным планом SNP и решение по разрыву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0000" y="3638000"/>
            <a:ext cx="1910000" cy="1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Ограниченный план из SNP</a:t>
            </a:r>
          </a:p>
          <a:p>
            <a:r>
              <a:rPr sz="900" b="0"/>
              <a:t>Дефициты и избытки по периодам</a:t>
            </a:r>
          </a:p>
          <a:p>
            <a:r>
              <a:rPr sz="900" b="0"/>
              <a:t>Варианты закрытия разрыва от Supply</a:t>
            </a:r>
          </a:p>
          <a:p>
            <a:r>
              <a:rPr sz="900" b="0"/>
              <a:t>Подтверждение коммерческих изменений Sales/Marketing</a:t>
            </a:r>
          </a:p>
          <a:p>
            <a:r>
              <a:rPr sz="900" b="0"/>
              <a:t>Неразрешённое — на S&amp;OP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80000" y="4964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Контроль точности и FVA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0000" y="5684000"/>
            <a:ext cx="1910000" cy="1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FA, MAPE, BIAS, WAPE по версии и лагу</a:t>
            </a:r>
          </a:p>
          <a:p>
            <a:r>
              <a:rPr sz="900" b="0"/>
              <a:t>FVA: наивный → модельный → с эффектами → BB → консенсус</a:t>
            </a:r>
          </a:p>
          <a:p>
            <a:r>
              <a:rPr sz="900" b="0"/>
              <a:t>BIAS по авторам корректировок</a:t>
            </a:r>
          </a:p>
          <a:p>
            <a:r>
              <a:rPr sz="900" b="0"/>
              <a:t>Дашборды точности и эффективности моделей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80000" y="701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Анализ предупреждений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0000" y="7730000"/>
            <a:ext cx="1910000" cy="13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Предупреждение: точность ниже порога по FA или BIAS</a:t>
            </a:r>
          </a:p>
          <a:p>
            <a:r>
              <a:rPr sz="900" b="0"/>
              <a:t>Предупреждение: разрыв с ограниченным планом SNP</a:t>
            </a:r>
          </a:p>
          <a:p>
            <a:r>
              <a:rPr sz="900" b="0"/>
              <a:t>Предупреждение: прогноз без истории по новому DFU</a:t>
            </a:r>
          </a:p>
          <a:p>
            <a:r>
              <a:rPr sz="900" b="0"/>
              <a:t>Предупреждение: ручная корректировка без обоснования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80000" y="9224000"/>
            <a:ext cx="191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Передача неограниченного плана спроса в SNP и MEIO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80000" y="9994000"/>
            <a:ext cx="191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Ошибка прогноза по горизонту в MEIO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000" y="980000"/>
            <a:ext cx="160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История продаж и заказы из ERP / DWH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00" y="1677142"/>
            <a:ext cx="160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Промо-план из TPM/NRM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00" y="2374284"/>
            <a:ext cx="160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Sell-Out, остатки и транзит клиента по EDI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000" y="3071426"/>
            <a:ext cx="160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Открытые заказы сетей и дистрибьюторов по EDI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000" y="3768568"/>
            <a:ext cx="160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Категорийный менеджмент: проверка BB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000" y="4465710"/>
            <a:ext cx="160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Коммерческие финансы: цены, оценка в деньгах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000" y="5162852"/>
            <a:ext cx="160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Sales/KAM: коммерческие допущения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000" y="5859994"/>
            <a:ext cx="160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Получение ограниченного плана из модуля SNP</a:t>
            </a:r>
          </a:p>
        </p:txBody>
      </p:sp>
      <p:cxnSp>
        <p:nvCxnSpPr>
          <p:cNvPr id="51" name="Connector 50"/>
          <p:cNvCxnSpPr>
            <a:stCxn id="4" idx="2"/>
            <a:endCxn id="6" idx="0"/>
          </p:cNvCxnSpPr>
          <p:nvPr/>
        </p:nvCxnSpPr>
        <p:spPr>
          <a:xfrm>
            <a:off x="2895000" y="1660000"/>
            <a:ext cx="0" cy="1594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stCxn id="6" idx="0"/>
            <a:endCxn id="10" idx="2"/>
          </p:cNvCxnSpPr>
          <p:nvPr/>
        </p:nvCxnSpPr>
        <p:spPr>
          <a:xfrm flipV="1">
            <a:off x="2895000" y="1660000"/>
            <a:ext cx="2060000" cy="1594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>
            <a:stCxn id="10" idx="2"/>
            <a:endCxn id="12" idx="0"/>
          </p:cNvCxnSpPr>
          <p:nvPr/>
        </p:nvCxnSpPr>
        <p:spPr>
          <a:xfrm>
            <a:off x="4955000" y="1660000"/>
            <a:ext cx="0" cy="1090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>
            <a:stCxn id="10" idx="2"/>
            <a:endCxn id="14" idx="0"/>
          </p:cNvCxnSpPr>
          <p:nvPr/>
        </p:nvCxnSpPr>
        <p:spPr>
          <a:xfrm>
            <a:off x="4955000" y="1660000"/>
            <a:ext cx="0" cy="2968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stCxn id="12" idx="2"/>
            <a:endCxn id="16" idx="0"/>
          </p:cNvCxnSpPr>
          <p:nvPr/>
        </p:nvCxnSpPr>
        <p:spPr>
          <a:xfrm>
            <a:off x="4955000" y="3370000"/>
            <a:ext cx="0" cy="2800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stCxn id="14" idx="2"/>
            <a:endCxn id="16" idx="0"/>
          </p:cNvCxnSpPr>
          <p:nvPr/>
        </p:nvCxnSpPr>
        <p:spPr>
          <a:xfrm>
            <a:off x="4955000" y="5248000"/>
            <a:ext cx="0" cy="922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stCxn id="16" idx="0"/>
            <a:endCxn id="21" idx="2"/>
          </p:cNvCxnSpPr>
          <p:nvPr/>
        </p:nvCxnSpPr>
        <p:spPr>
          <a:xfrm flipV="1">
            <a:off x="4955000" y="1660000"/>
            <a:ext cx="2060000" cy="4510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stCxn id="16" idx="0"/>
            <a:endCxn id="23" idx="2"/>
          </p:cNvCxnSpPr>
          <p:nvPr/>
        </p:nvCxnSpPr>
        <p:spPr>
          <a:xfrm flipV="1">
            <a:off x="4955000" y="2866000"/>
            <a:ext cx="2060000" cy="3304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stCxn id="21" idx="3"/>
            <a:endCxn id="27" idx="1"/>
          </p:cNvCxnSpPr>
          <p:nvPr/>
        </p:nvCxnSpPr>
        <p:spPr>
          <a:xfrm>
            <a:off x="7970000" y="1350000"/>
            <a:ext cx="15000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stCxn id="23" idx="3"/>
            <a:endCxn id="27" idx="1"/>
          </p:cNvCxnSpPr>
          <p:nvPr/>
        </p:nvCxnSpPr>
        <p:spPr>
          <a:xfrm flipV="1">
            <a:off x="7970000" y="1350000"/>
            <a:ext cx="150000" cy="1206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stCxn id="27" idx="2"/>
            <a:endCxn id="29" idx="0"/>
          </p:cNvCxnSpPr>
          <p:nvPr/>
        </p:nvCxnSpPr>
        <p:spPr>
          <a:xfrm>
            <a:off x="9075000" y="1660000"/>
            <a:ext cx="0" cy="1426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stCxn id="29" idx="3"/>
            <a:endCxn id="33" idx="1"/>
          </p:cNvCxnSpPr>
          <p:nvPr/>
        </p:nvCxnSpPr>
        <p:spPr>
          <a:xfrm flipV="1">
            <a:off x="10030000" y="1350000"/>
            <a:ext cx="150000" cy="2046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>
            <a:stCxn id="33" idx="2"/>
            <a:endCxn id="35" idx="0"/>
          </p:cNvCxnSpPr>
          <p:nvPr/>
        </p:nvCxnSpPr>
        <p:spPr>
          <a:xfrm>
            <a:off x="11135000" y="1660000"/>
            <a:ext cx="0" cy="1258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>
            <a:stCxn id="33" idx="2"/>
            <a:endCxn id="37" idx="0"/>
          </p:cNvCxnSpPr>
          <p:nvPr/>
        </p:nvCxnSpPr>
        <p:spPr>
          <a:xfrm>
            <a:off x="11135000" y="1660000"/>
            <a:ext cx="0" cy="3304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>
            <a:stCxn id="37" idx="1"/>
            <a:endCxn id="10" idx="3"/>
          </p:cNvCxnSpPr>
          <p:nvPr/>
        </p:nvCxnSpPr>
        <p:spPr>
          <a:xfrm flipH="1" flipV="1">
            <a:off x="5910000" y="1350000"/>
            <a:ext cx="4270000" cy="39240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>
            <a:stCxn id="37" idx="2"/>
            <a:endCxn id="39" idx="0"/>
          </p:cNvCxnSpPr>
          <p:nvPr/>
        </p:nvCxnSpPr>
        <p:spPr>
          <a:xfrm>
            <a:off x="11135000" y="5584000"/>
            <a:ext cx="0" cy="1426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stCxn id="43" idx="3"/>
            <a:endCxn id="4" idx="1"/>
          </p:cNvCxnSpPr>
          <p:nvPr/>
        </p:nvCxnSpPr>
        <p:spPr>
          <a:xfrm>
            <a:off x="1700000" y="1290000"/>
            <a:ext cx="240000" cy="60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>
            <a:stCxn id="44" idx="2"/>
            <a:endCxn id="16" idx="0"/>
          </p:cNvCxnSpPr>
          <p:nvPr/>
        </p:nvCxnSpPr>
        <p:spPr>
          <a:xfrm>
            <a:off x="900000" y="2297142"/>
            <a:ext cx="4055000" cy="38728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>
            <a:stCxn id="12" idx="2"/>
            <a:endCxn id="18" idx="0"/>
          </p:cNvCxnSpPr>
          <p:nvPr/>
        </p:nvCxnSpPr>
        <p:spPr>
          <a:xfrm>
            <a:off x="4955000" y="3370000"/>
            <a:ext cx="0" cy="4342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>
            <a:stCxn id="45" idx="3"/>
            <a:endCxn id="23" idx="1"/>
          </p:cNvCxnSpPr>
          <p:nvPr/>
        </p:nvCxnSpPr>
        <p:spPr>
          <a:xfrm flipV="1">
            <a:off x="1700000" y="2556000"/>
            <a:ext cx="4360000" cy="12828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>
            <a:stCxn id="46" idx="3"/>
            <a:endCxn id="23" idx="1"/>
          </p:cNvCxnSpPr>
          <p:nvPr/>
        </p:nvCxnSpPr>
        <p:spPr>
          <a:xfrm flipV="1">
            <a:off x="1700000" y="2556000"/>
            <a:ext cx="4360000" cy="82542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>
            <a:stCxn id="47" idx="3"/>
            <a:endCxn id="27" idx="1"/>
          </p:cNvCxnSpPr>
          <p:nvPr/>
        </p:nvCxnSpPr>
        <p:spPr>
          <a:xfrm flipV="1">
            <a:off x="1700000" y="1350000"/>
            <a:ext cx="6420000" cy="272856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stCxn id="48" idx="3"/>
            <a:endCxn id="29" idx="1"/>
          </p:cNvCxnSpPr>
          <p:nvPr/>
        </p:nvCxnSpPr>
        <p:spPr>
          <a:xfrm flipV="1">
            <a:off x="1700000" y="3396000"/>
            <a:ext cx="6420000" cy="137971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49" idx="3"/>
            <a:endCxn id="29" idx="1"/>
          </p:cNvCxnSpPr>
          <p:nvPr/>
        </p:nvCxnSpPr>
        <p:spPr>
          <a:xfrm flipV="1">
            <a:off x="1700000" y="3396000"/>
            <a:ext cx="6420000" cy="20768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>
            <a:stCxn id="50" idx="3"/>
            <a:endCxn id="35" idx="1"/>
          </p:cNvCxnSpPr>
          <p:nvPr/>
        </p:nvCxnSpPr>
        <p:spPr>
          <a:xfrm flipV="1">
            <a:off x="1700000" y="3228000"/>
            <a:ext cx="8480000" cy="294199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>
            <a:stCxn id="33" idx="2"/>
            <a:endCxn id="41" idx="0"/>
          </p:cNvCxnSpPr>
          <p:nvPr/>
        </p:nvCxnSpPr>
        <p:spPr>
          <a:xfrm>
            <a:off x="11135000" y="1660000"/>
            <a:ext cx="0" cy="7564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>
            <a:stCxn id="37" idx="2"/>
            <a:endCxn id="42" idx="0"/>
          </p:cNvCxnSpPr>
          <p:nvPr/>
        </p:nvCxnSpPr>
        <p:spPr>
          <a:xfrm>
            <a:off x="11135000" y="5584000"/>
            <a:ext cx="0" cy="4410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