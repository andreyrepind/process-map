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80000" y="980000"/>
            <a:ext cx="2030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8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Подготовка истории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4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Подготовка сопоставимой истории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40000" y="1760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OOS, выбросы, промо, ML-очистка</a:t>
            </a:r>
          </a:p>
          <a:p>
            <a:r>
              <a:rPr sz="900" b="0"/>
              <a:t>Перенос истории при смене схемы</a:t>
            </a:r>
          </a:p>
          <a:p>
            <a:r>
              <a:rPr sz="900" b="0"/>
              <a:t>Замена SKU через DFU</a:t>
            </a:r>
          </a:p>
          <a:p>
            <a:r>
              <a:rPr sz="900" b="0"/>
              <a:t>Исключения планеру</a:t>
            </a:r>
          </a:p>
        </p:txBody>
      </p:sp>
      <p:sp>
        <p:nvSpPr>
          <p:cNvPr id="6" name="Rectangle 5"/>
          <p:cNvSpPr/>
          <p:nvPr/>
        </p:nvSpPr>
        <p:spPr>
          <a:xfrm>
            <a:off x="3940000" y="980000"/>
            <a:ext cx="2030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4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Расчёт прогноза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0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Сегментация/кластеризация и настройка методов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00000" y="1760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ABC/XYZ, непрерывность, тренд</a:t>
            </a:r>
          </a:p>
          <a:p>
            <a:r>
              <a:rPr sz="900" b="0"/>
              <a:t>ML-кластеризация, сезонность</a:t>
            </a:r>
          </a:p>
          <a:p>
            <a:r>
              <a:rPr sz="900" b="0"/>
              <a:t>Привязка методов и параметров к сегменту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00000" y="2582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Ассортимент: методы и чемпион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0000" y="3302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Статистика, ансамбли, ML</a:t>
            </a:r>
          </a:p>
          <a:p>
            <a:r>
              <a:rPr sz="900" b="0"/>
              <a:t>Backtest, чемпион для серии</a:t>
            </a:r>
          </a:p>
          <a:p>
            <a:r>
              <a:rPr sz="900" b="0"/>
              <a:t>Референс, коэффициент, даты действия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00000" y="4124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Новинки: похожие товары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00000" y="4894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Промо light: прогноз промо-объёмов (опционально)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000" y="5614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Календарь акций и механик</a:t>
            </a:r>
          </a:p>
          <a:p>
            <a:r>
              <a:rPr sz="900" b="0"/>
              <a:t>Промо-объёмы по промо-эффектам из истории</a:t>
            </a:r>
          </a:p>
          <a:p>
            <a:r>
              <a:rPr sz="900" b="0"/>
              <a:t>Промо-план из TPM/NRM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00000" y="980000"/>
            <a:ext cx="2030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0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Sell-In по модели канала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6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Прямые каналы: прямой прогноз Sell-In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60000" y="181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Sell-Out → баланс → Sell-In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60000" y="2530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Остатки, транзит, открытые заказы, целевой запас</a:t>
            </a:r>
          </a:p>
          <a:p>
            <a:r>
              <a:rPr sz="900" b="0"/>
              <a:t>Прогнозный остаток и дни покрытия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60000" y="980000"/>
            <a:ext cx="2030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6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Обогащение и согласование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2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Building Blocks и корректировки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0000" y="1760000"/>
            <a:ext cx="1910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Объёмные, процентные, замещающие блоки</a:t>
            </a:r>
          </a:p>
          <a:p>
            <a:r>
              <a:rPr sz="900" b="0"/>
              <a:t>Распределение вниз, пересчёт вверх</a:t>
            </a:r>
          </a:p>
          <a:p>
            <a:r>
              <a:rPr sz="900" b="0"/>
              <a:t>Версии, аудит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20000" y="275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Demand Review Meeting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0000" y="3470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Консенсус в объёме и в деньгах</a:t>
            </a:r>
          </a:p>
          <a:p>
            <a:r>
              <a:rPr sz="900" b="0"/>
              <a:t>Согласование исключений</a:t>
            </a:r>
          </a:p>
          <a:p>
            <a:r>
              <a:rPr sz="900" b="0"/>
              <a:t>Согласованный план спроса Sell-In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20000" y="980000"/>
            <a:ext cx="2030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2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Публикация и контроль точности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8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Публикация и анализ точности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80000" y="1760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DFU → SKU, публикация с лагом</a:t>
            </a:r>
          </a:p>
          <a:p>
            <a:r>
              <a:rPr sz="900" b="0"/>
              <a:t>Передача плана в SNP и MEIO</a:t>
            </a:r>
          </a:p>
          <a:p>
            <a:r>
              <a:rPr sz="900" b="0"/>
              <a:t>FA, MAPE, BIAS, алерты</a:t>
            </a:r>
          </a:p>
          <a:p>
            <a:r>
              <a:rPr sz="900" b="0"/>
              <a:t>Разрыв с планом SNP → решение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80000" y="2582000"/>
            <a:ext cx="191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Передача неограниченного плана спроса в SNP и MEIO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000" y="98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История продаж и заказы из ERP / DWH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000" y="220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Промо-план из TPM/NRM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000" y="342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Категорийный менеджмент: проверка Building Blocks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000" y="464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Коммерческие финансы: консенсус-прогноз в деньгах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000" y="586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Получение ограниченного прогноза из модуля SNP</a:t>
            </a:r>
          </a:p>
        </p:txBody>
      </p:sp>
      <p:cxnSp>
        <p:nvCxnSpPr>
          <p:cNvPr id="36" name="Connector 35"/>
          <p:cNvCxnSpPr>
            <a:stCxn id="4" idx="3"/>
            <a:endCxn id="8" idx="1"/>
          </p:cNvCxnSpPr>
          <p:nvPr/>
        </p:nvCxnSpPr>
        <p:spPr>
          <a:xfrm>
            <a:off x="3850000" y="1350000"/>
            <a:ext cx="15000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8" idx="2"/>
            <a:endCxn id="10" idx="0"/>
          </p:cNvCxnSpPr>
          <p:nvPr/>
        </p:nvCxnSpPr>
        <p:spPr>
          <a:xfrm>
            <a:off x="4955000" y="1660000"/>
            <a:ext cx="0" cy="92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8" idx="2"/>
            <a:endCxn id="12" idx="0"/>
          </p:cNvCxnSpPr>
          <p:nvPr/>
        </p:nvCxnSpPr>
        <p:spPr>
          <a:xfrm>
            <a:off x="4955000" y="1660000"/>
            <a:ext cx="0" cy="246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10" idx="2"/>
            <a:endCxn id="13" idx="0"/>
          </p:cNvCxnSpPr>
          <p:nvPr/>
        </p:nvCxnSpPr>
        <p:spPr>
          <a:xfrm>
            <a:off x="4955000" y="3202000"/>
            <a:ext cx="0" cy="169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12" idx="2"/>
            <a:endCxn id="13" idx="0"/>
          </p:cNvCxnSpPr>
          <p:nvPr/>
        </p:nvCxnSpPr>
        <p:spPr>
          <a:xfrm>
            <a:off x="4955000" y="4744000"/>
            <a:ext cx="0" cy="15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13" idx="0"/>
            <a:endCxn id="17" idx="2"/>
          </p:cNvCxnSpPr>
          <p:nvPr/>
        </p:nvCxnSpPr>
        <p:spPr>
          <a:xfrm flipV="1">
            <a:off x="4955000" y="1660000"/>
            <a:ext cx="2060000" cy="323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13" idx="0"/>
            <a:endCxn id="18" idx="2"/>
          </p:cNvCxnSpPr>
          <p:nvPr/>
        </p:nvCxnSpPr>
        <p:spPr>
          <a:xfrm flipV="1">
            <a:off x="4955000" y="2430000"/>
            <a:ext cx="2060000" cy="246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stCxn id="17" idx="3"/>
            <a:endCxn id="22" idx="1"/>
          </p:cNvCxnSpPr>
          <p:nvPr/>
        </p:nvCxnSpPr>
        <p:spPr>
          <a:xfrm>
            <a:off x="7970000" y="1350000"/>
            <a:ext cx="15000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>
            <a:stCxn id="18" idx="3"/>
            <a:endCxn id="22" idx="1"/>
          </p:cNvCxnSpPr>
          <p:nvPr/>
        </p:nvCxnSpPr>
        <p:spPr>
          <a:xfrm flipV="1">
            <a:off x="7970000" y="1350000"/>
            <a:ext cx="150000" cy="77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>
            <a:stCxn id="22" idx="2"/>
            <a:endCxn id="24" idx="0"/>
          </p:cNvCxnSpPr>
          <p:nvPr/>
        </p:nvCxnSpPr>
        <p:spPr>
          <a:xfrm>
            <a:off x="9075000" y="1660000"/>
            <a:ext cx="0" cy="109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>
            <a:stCxn id="24" idx="3"/>
            <a:endCxn id="28" idx="1"/>
          </p:cNvCxnSpPr>
          <p:nvPr/>
        </p:nvCxnSpPr>
        <p:spPr>
          <a:xfrm flipV="1">
            <a:off x="10030000" y="1350000"/>
            <a:ext cx="150000" cy="171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>
            <a:stCxn id="31" idx="3"/>
            <a:endCxn id="4" idx="1"/>
          </p:cNvCxnSpPr>
          <p:nvPr/>
        </p:nvCxnSpPr>
        <p:spPr>
          <a:xfrm>
            <a:off x="1700000" y="1290000"/>
            <a:ext cx="240000" cy="6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>
            <a:stCxn id="32" idx="3"/>
            <a:endCxn id="13" idx="1"/>
          </p:cNvCxnSpPr>
          <p:nvPr/>
        </p:nvCxnSpPr>
        <p:spPr>
          <a:xfrm>
            <a:off x="1700000" y="2510000"/>
            <a:ext cx="2300000" cy="2694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>
            <a:stCxn id="33" idx="3"/>
            <a:endCxn id="22" idx="1"/>
          </p:cNvCxnSpPr>
          <p:nvPr/>
        </p:nvCxnSpPr>
        <p:spPr>
          <a:xfrm flipV="1">
            <a:off x="1700000" y="1350000"/>
            <a:ext cx="6420000" cy="2380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>
            <a:stCxn id="34" idx="3"/>
            <a:endCxn id="24" idx="1"/>
          </p:cNvCxnSpPr>
          <p:nvPr/>
        </p:nvCxnSpPr>
        <p:spPr>
          <a:xfrm flipV="1">
            <a:off x="1700000" y="3060000"/>
            <a:ext cx="6420000" cy="1890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>
            <a:stCxn id="35" idx="3"/>
            <a:endCxn id="28" idx="1"/>
          </p:cNvCxnSpPr>
          <p:nvPr/>
        </p:nvCxnSpPr>
        <p:spPr>
          <a:xfrm flipV="1">
            <a:off x="1700000" y="1350000"/>
            <a:ext cx="8480000" cy="4820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>
            <a:stCxn id="28" idx="2"/>
            <a:endCxn id="30" idx="0"/>
          </p:cNvCxnSpPr>
          <p:nvPr/>
        </p:nvCxnSpPr>
        <p:spPr>
          <a:xfrm>
            <a:off x="11135000" y="1660000"/>
            <a:ext cx="0" cy="92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