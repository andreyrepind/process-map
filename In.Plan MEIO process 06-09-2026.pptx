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880000" y="980000"/>
            <a:ext cx="2545000" cy="55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80000" y="500000"/>
            <a:ext cx="2545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/>
              <a:t>Получение данных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940000" y="1040000"/>
            <a:ext cx="2425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Подготовка данных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40000" y="1760000"/>
            <a:ext cx="2425000" cy="18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Структура текущих запасов по узлам и партиям</a:t>
            </a:r>
          </a:p>
          <a:p>
            <a:r>
              <a:rPr sz="900" b="0"/>
              <a:t>Фактические отгрузки за период</a:t>
            </a:r>
          </a:p>
          <a:p>
            <a:r>
              <a:rPr sz="900" b="0"/>
              <a:t>Остатки на руках, в заказе и в пути</a:t>
            </a:r>
          </a:p>
          <a:p>
            <a:r>
              <a:rPr sz="900" b="0"/>
              <a:t>Связки продукт-локация и эшелоны сети</a:t>
            </a:r>
          </a:p>
          <a:p>
            <a:r>
              <a:rPr sz="900" b="0"/>
              <a:t>Источники поставки, квоты и маршруты</a:t>
            </a:r>
          </a:p>
          <a:p>
            <a:r>
              <a:rPr sz="900" b="0"/>
              <a:t>Календари пополнения и производственные календари</a:t>
            </a:r>
          </a:p>
          <a:p>
            <a:r>
              <a:rPr sz="900" b="0"/>
              <a:t>Мощности хранения по температурным режимам</a:t>
            </a:r>
          </a:p>
          <a:p>
            <a:r>
              <a:rPr sz="900" b="0"/>
              <a:t>Незакрытый спрос и списания за период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940000" y="3758000"/>
            <a:ext cx="2425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Проверка мастер-данных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40000" y="4478000"/>
            <a:ext cx="2425000" cy="8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Полнота карточек товара и локаций</a:t>
            </a:r>
          </a:p>
          <a:p>
            <a:r>
              <a:rPr sz="900" b="0"/>
              <a:t>Единицы измерения и кратности</a:t>
            </a:r>
          </a:p>
          <a:p>
            <a:r>
              <a:rPr sz="900" b="0"/>
              <a:t>Дубли и неактуальные записи</a:t>
            </a:r>
          </a:p>
          <a:p>
            <a:r>
              <a:rPr sz="900" b="0"/>
              <a:t>Атрибуты сроков годности и температурных режимов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40000" y="5468000"/>
            <a:ext cx="2425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Проверка цепочки на связанность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40000" y="6188000"/>
            <a:ext cx="2425000" cy="8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У каждой связки продукт-локация есть источник поставки</a:t>
            </a:r>
          </a:p>
          <a:p>
            <a:r>
              <a:rPr sz="900" b="0"/>
              <a:t>Нет разрывов между эшелонами</a:t>
            </a:r>
          </a:p>
          <a:p>
            <a:r>
              <a:rPr sz="900" b="0"/>
              <a:t>Квоты и маршруты заданы для всех связей</a:t>
            </a:r>
          </a:p>
          <a:p>
            <a:r>
              <a:rPr sz="900" b="0"/>
              <a:t>Лидтаймы проставлены по всем дугам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55000" y="980000"/>
            <a:ext cx="2545000" cy="55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55000" y="500000"/>
            <a:ext cx="2545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/>
              <a:t>Подготовка к расчёту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15000" y="1040000"/>
            <a:ext cx="2425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Настройка параметров для расчёта уровней запасов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15000" y="1760000"/>
            <a:ext cx="2425000" cy="16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Плановые лидтаймы и отклонения</a:t>
            </a:r>
          </a:p>
          <a:p>
            <a:r>
              <a:rPr sz="900" b="0"/>
              <a:t>Квоты</a:t>
            </a:r>
          </a:p>
          <a:p>
            <a:r>
              <a:rPr sz="900" b="0"/>
              <a:t>База неопределённости: расчёт в модуле или ошибка прогноза из DP</a:t>
            </a:r>
          </a:p>
          <a:p>
            <a:r>
              <a:rPr sz="900" b="0"/>
              <a:t>Спрос и волатильность</a:t>
            </a:r>
          </a:p>
          <a:p>
            <a:r>
              <a:rPr sz="900" b="0"/>
              <a:t>Затраты на хранение</a:t>
            </a:r>
          </a:p>
          <a:p>
            <a:r>
              <a:rPr sz="900" b="0"/>
              <a:t>Минимальный размер партии и кратность</a:t>
            </a:r>
          </a:p>
          <a:p>
            <a:r>
              <a:rPr sz="900" b="0"/>
              <a:t>Срок годности и остаточный срок при приёмке</a:t>
            </a:r>
          </a:p>
          <a:p>
            <a:r>
              <a:rPr sz="900" b="0"/>
              <a:t>Политика FEFO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15000" y="3590000"/>
            <a:ext cx="2425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Сегментация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5000" y="4310000"/>
            <a:ext cx="2425000" cy="8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Lifecycle</a:t>
            </a:r>
          </a:p>
          <a:p>
            <a:r>
              <a:rPr sz="900" b="0"/>
              <a:t>ADI-CV</a:t>
            </a:r>
          </a:p>
          <a:p>
            <a:r>
              <a:rPr sz="900" b="0"/>
              <a:t>ABC</a:t>
            </a:r>
          </a:p>
          <a:p>
            <a:r>
              <a:rPr sz="900" b="0"/>
              <a:t>FMR</a:t>
            </a:r>
          </a:p>
          <a:p>
            <a:r>
              <a:rPr sz="900" b="0"/>
              <a:t>XYZ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30000" y="980000"/>
            <a:ext cx="2545000" cy="55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30000" y="500000"/>
            <a:ext cx="2545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/>
              <a:t>Расчёт и анализ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090000" y="1040000"/>
            <a:ext cx="2425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Расчёт рекомендаций по уровням запасов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90000" y="1760000"/>
            <a:ext cx="2425000" cy="13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Параметры оптимизации</a:t>
            </a:r>
          </a:p>
          <a:p>
            <a:r>
              <a:rPr sz="900" b="0"/>
              <a:t>Ограничения</a:t>
            </a:r>
          </a:p>
          <a:p>
            <a:r>
              <a:rPr sz="900" b="0"/>
              <a:t>Страховой, целевой, циклический запас</a:t>
            </a:r>
          </a:p>
          <a:p>
            <a:r>
              <a:rPr sz="900" b="0"/>
              <a:t>Точка заказа</a:t>
            </a:r>
          </a:p>
          <a:p>
            <a:r>
              <a:rPr sz="900" b="0"/>
              <a:t>Рекомендованный уровень сервиса</a:t>
            </a:r>
          </a:p>
          <a:p>
            <a:r>
              <a:rPr sz="900" b="0"/>
              <a:t>Ограничение: покрытие ≤ остаточного срока годности</a:t>
            </a:r>
          </a:p>
          <a:p>
            <a:r>
              <a:rPr sz="900" b="0"/>
              <a:t>Стоимость списаний и уценки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090000" y="3254000"/>
            <a:ext cx="2425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Анализ полученных значений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90000" y="3974000"/>
            <a:ext cx="2425000" cy="13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Пересчёт по фильтрам: склад, канал, категория, сегмент</a:t>
            </a:r>
          </a:p>
          <a:p>
            <a:r>
              <a:rPr sz="900" b="0"/>
              <a:t>Изменение целевого уровня сервиса</a:t>
            </a:r>
          </a:p>
          <a:p>
            <a:r>
              <a:rPr sz="900" b="0"/>
              <a:t>Изменение политики пополнения: частота, размер партии, кратность</a:t>
            </a:r>
          </a:p>
          <a:p>
            <a:r>
              <a:rPr sz="900" b="0"/>
              <a:t>Изменение лидтаймов и их отклонений</a:t>
            </a:r>
          </a:p>
          <a:p>
            <a:r>
              <a:rPr sz="900" b="0"/>
              <a:t>Ограничение по мощностям хранения</a:t>
            </a:r>
          </a:p>
          <a:p>
            <a:r>
              <a:rPr sz="900" b="0"/>
              <a:t>Ограничение по бюджету запаса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090000" y="5468000"/>
            <a:ext cx="2425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Анализ предупреждений расчёта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90000" y="6188000"/>
            <a:ext cx="2425000" cy="13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Предупреждение: покрытие превышает остаточный срок годности</a:t>
            </a:r>
          </a:p>
          <a:p>
            <a:r>
              <a:rPr sz="900" b="0"/>
              <a:t>Предупреждение: рекомендованный уровень ниже минимальной партии</a:t>
            </a:r>
          </a:p>
          <a:p>
            <a:r>
              <a:rPr sz="900" b="0"/>
              <a:t>Предупреждение: целевой запас не помещается в мощности хранения</a:t>
            </a:r>
          </a:p>
          <a:p>
            <a:r>
              <a:rPr sz="900" b="0"/>
              <a:t>Предупреждение: отклонение от целевого уровня сервиса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090000" y="7682000"/>
            <a:ext cx="2425000" cy="620000"/>
          </a:xfrm>
          <a:prstGeom prst="rect">
            <a:avLst/>
          </a:prstGeom>
          <a:solidFill>
            <a:schemeClr val="accent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Уровни запасов в SNP/PS и MRP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605000" y="980000"/>
            <a:ext cx="2545000" cy="55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5000" y="500000"/>
            <a:ext cx="2545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/>
              <a:t>Оценка эффектов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65000" y="1040000"/>
            <a:ext cx="2425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Оценка эффектов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65000" y="1760000"/>
            <a:ext cx="2425000" cy="33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Оценка эффектов и формирование рекомендаций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665000" y="2246000"/>
            <a:ext cx="2425000" cy="620000"/>
          </a:xfrm>
          <a:prstGeom prst="rect">
            <a:avLst/>
          </a:prstGeom>
          <a:solidFill>
            <a:schemeClr val="accent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Оценка эффектов и рекомендации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0000" y="980000"/>
            <a:ext cx="1600000" cy="620000"/>
          </a:xfrm>
          <a:prstGeom prst="rect">
            <a:avLst/>
          </a:prstGeom>
          <a:solidFill>
            <a:schemeClr val="accent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Структура текущих запасов и фактические отгрузки из ERP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0000" y="2200000"/>
            <a:ext cx="1600000" cy="620000"/>
          </a:xfrm>
          <a:prstGeom prst="rect">
            <a:avLst/>
          </a:prstGeom>
          <a:solidFill>
            <a:schemeClr val="accent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Спрос и волатильность из DP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0000" y="3420000"/>
            <a:ext cx="1600000" cy="620000"/>
          </a:xfrm>
          <a:prstGeom prst="rect">
            <a:avLst/>
          </a:prstGeom>
          <a:solidFill>
            <a:schemeClr val="accent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Параметры цепочки из ERP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0000" y="4640000"/>
            <a:ext cx="1600000" cy="620000"/>
          </a:xfrm>
          <a:prstGeom prst="rect">
            <a:avLst/>
          </a:prstGeom>
          <a:solidFill>
            <a:schemeClr val="accent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Сроки годности и требования сетей к остаточному сроку из ERP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0000" y="5860000"/>
            <a:ext cx="1600000" cy="620000"/>
          </a:xfrm>
          <a:prstGeom prst="rect">
            <a:avLst/>
          </a:prstGeom>
          <a:solidFill>
            <a:schemeClr val="accent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Ошибка прогноза по горизонту из DP</a:t>
            </a:r>
          </a:p>
        </p:txBody>
      </p:sp>
      <p:cxnSp>
        <p:nvCxnSpPr>
          <p:cNvPr id="35" name="Connector 34"/>
          <p:cNvCxnSpPr>
            <a:stCxn id="4" idx="2"/>
            <a:endCxn id="6" idx="0"/>
          </p:cNvCxnSpPr>
          <p:nvPr/>
        </p:nvCxnSpPr>
        <p:spPr>
          <a:xfrm>
            <a:off x="3152500" y="1660000"/>
            <a:ext cx="0" cy="2098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>
            <a:stCxn id="6" idx="2"/>
            <a:endCxn id="8" idx="0"/>
          </p:cNvCxnSpPr>
          <p:nvPr/>
        </p:nvCxnSpPr>
        <p:spPr>
          <a:xfrm>
            <a:off x="3152500" y="4378000"/>
            <a:ext cx="0" cy="1090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>
            <a:stCxn id="8" idx="0"/>
            <a:endCxn id="12" idx="2"/>
          </p:cNvCxnSpPr>
          <p:nvPr/>
        </p:nvCxnSpPr>
        <p:spPr>
          <a:xfrm flipV="1">
            <a:off x="3152500" y="1660000"/>
            <a:ext cx="2575000" cy="3808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>
            <a:stCxn id="12" idx="2"/>
            <a:endCxn id="14" idx="0"/>
          </p:cNvCxnSpPr>
          <p:nvPr/>
        </p:nvCxnSpPr>
        <p:spPr>
          <a:xfrm>
            <a:off x="5727500" y="1660000"/>
            <a:ext cx="0" cy="1930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>
            <a:stCxn id="14" idx="3"/>
            <a:endCxn id="18" idx="1"/>
          </p:cNvCxnSpPr>
          <p:nvPr/>
        </p:nvCxnSpPr>
        <p:spPr>
          <a:xfrm flipV="1">
            <a:off x="6940000" y="1350000"/>
            <a:ext cx="150000" cy="2550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>
            <a:stCxn id="18" idx="2"/>
            <a:endCxn id="20" idx="0"/>
          </p:cNvCxnSpPr>
          <p:nvPr/>
        </p:nvCxnSpPr>
        <p:spPr>
          <a:xfrm>
            <a:off x="8302500" y="1660000"/>
            <a:ext cx="0" cy="1594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>
            <a:stCxn id="20" idx="3"/>
            <a:endCxn id="27" idx="1"/>
          </p:cNvCxnSpPr>
          <p:nvPr/>
        </p:nvCxnSpPr>
        <p:spPr>
          <a:xfrm flipV="1">
            <a:off x="9515000" y="1350000"/>
            <a:ext cx="150000" cy="2214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>
            <a:stCxn id="20" idx="2"/>
            <a:endCxn id="22" idx="0"/>
          </p:cNvCxnSpPr>
          <p:nvPr/>
        </p:nvCxnSpPr>
        <p:spPr>
          <a:xfrm>
            <a:off x="8302500" y="3874000"/>
            <a:ext cx="0" cy="1594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>
            <a:stCxn id="30" idx="3"/>
            <a:endCxn id="4" idx="1"/>
          </p:cNvCxnSpPr>
          <p:nvPr/>
        </p:nvCxnSpPr>
        <p:spPr>
          <a:xfrm>
            <a:off x="1700000" y="1290000"/>
            <a:ext cx="240000" cy="60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>
            <a:stCxn id="31" idx="3"/>
            <a:endCxn id="12" idx="1"/>
          </p:cNvCxnSpPr>
          <p:nvPr/>
        </p:nvCxnSpPr>
        <p:spPr>
          <a:xfrm flipV="1">
            <a:off x="1700000" y="1350000"/>
            <a:ext cx="2815000" cy="11600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>
            <a:stCxn id="32" idx="3"/>
            <a:endCxn id="12" idx="1"/>
          </p:cNvCxnSpPr>
          <p:nvPr/>
        </p:nvCxnSpPr>
        <p:spPr>
          <a:xfrm flipV="1">
            <a:off x="1700000" y="1350000"/>
            <a:ext cx="2815000" cy="23800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>
            <a:stCxn id="33" idx="3"/>
            <a:endCxn id="12" idx="1"/>
          </p:cNvCxnSpPr>
          <p:nvPr/>
        </p:nvCxnSpPr>
        <p:spPr>
          <a:xfrm flipV="1">
            <a:off x="1700000" y="1350000"/>
            <a:ext cx="2815000" cy="36000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>
            <a:stCxn id="34" idx="3"/>
            <a:endCxn id="12" idx="1"/>
          </p:cNvCxnSpPr>
          <p:nvPr/>
        </p:nvCxnSpPr>
        <p:spPr>
          <a:xfrm flipV="1">
            <a:off x="1700000" y="1350000"/>
            <a:ext cx="2815000" cy="48200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>
            <a:stCxn id="18" idx="2"/>
            <a:endCxn id="24" idx="0"/>
          </p:cNvCxnSpPr>
          <p:nvPr/>
        </p:nvCxnSpPr>
        <p:spPr>
          <a:xfrm>
            <a:off x="8302500" y="1660000"/>
            <a:ext cx="0" cy="6022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>
            <a:stCxn id="27" idx="2"/>
            <a:endCxn id="29" idx="0"/>
          </p:cNvCxnSpPr>
          <p:nvPr/>
        </p:nvCxnSpPr>
        <p:spPr>
          <a:xfrm>
            <a:off x="10877500" y="1660000"/>
            <a:ext cx="0" cy="586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