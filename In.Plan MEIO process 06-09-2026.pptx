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95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18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Основные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21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Продукт</a:t>
            </a:r>
          </a:p>
          <a:p>
            <a:r>
              <a:rPr sz="900" b="0"/>
              <a:t>Локация</a:t>
            </a:r>
          </a:p>
          <a:p>
            <a:r>
              <a:rPr sz="900" b="0"/>
              <a:t>Продукт-Локация</a:t>
            </a:r>
          </a:p>
          <a:p>
            <a:r>
              <a:rPr sz="900" b="0"/>
              <a:t>Групповой клиент, источники для гр. клиента</a:t>
            </a:r>
          </a:p>
          <a:p>
            <a:r>
              <a:rPr sz="900" b="0"/>
              <a:t>Транспортные отношения</a:t>
            </a:r>
          </a:p>
          <a:p>
            <a:r>
              <a:rPr sz="900" b="0"/>
              <a:t>Производственная спецификация</a:t>
            </a:r>
          </a:p>
          <a:p>
            <a:r>
              <a:rPr sz="900" b="0"/>
              <a:t>Компоненты производственной спецификации</a:t>
            </a:r>
          </a:p>
          <a:p>
            <a:r>
              <a:rPr sz="900" b="0"/>
              <a:t>Поставщик, источники поставщика</a:t>
            </a:r>
          </a:p>
          <a:p>
            <a:r>
              <a:rPr sz="900" b="0"/>
              <a:t>Валюта, курсы обмена</a:t>
            </a:r>
          </a:p>
          <a:p>
            <a:r>
              <a:rPr sz="900" b="0"/>
              <a:t>Единицы измерения, коэффициенты пересчёта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409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Данные о спросе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481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Целевой уровень сервиса</a:t>
            </a:r>
          </a:p>
          <a:p>
            <a:r>
              <a:rPr sz="900" b="0"/>
              <a:t>Тип уровня сервиса</a:t>
            </a:r>
          </a:p>
          <a:p>
            <a:r>
              <a:rPr sz="900" b="0"/>
              <a:t>История прогноза спроса и история расхода</a:t>
            </a:r>
          </a:p>
          <a:p>
            <a:r>
              <a:rPr sz="900" b="0"/>
              <a:t>Будущий прогноз спроса</a:t>
            </a:r>
          </a:p>
          <a:p>
            <a:r>
              <a:rPr sz="900" b="0"/>
              <a:t>СКО ошибки прогноза</a:t>
            </a:r>
          </a:p>
          <a:p>
            <a:r>
              <a:rPr sz="900" b="0"/>
              <a:t>Замороженный период спроса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61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Источники поставки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6860000"/>
            <a:ext cx="1910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Транспортный лидтайм</a:t>
            </a:r>
          </a:p>
          <a:p>
            <a:r>
              <a:rPr sz="900" b="0"/>
              <a:t>СКО транспортного лидтайма</a:t>
            </a:r>
          </a:p>
          <a:p>
            <a:r>
              <a:rPr sz="900" b="0"/>
              <a:t>Минимальный размер партии транспортировки</a:t>
            </a:r>
          </a:p>
          <a:p>
            <a:r>
              <a:rPr sz="900" b="0"/>
              <a:t>Округление партии транспортировки</a:t>
            </a:r>
          </a:p>
          <a:p>
            <a:r>
              <a:rPr sz="900" b="0"/>
              <a:t>Размер партии транспортировки в днях</a:t>
            </a:r>
          </a:p>
          <a:p>
            <a:r>
              <a:rPr sz="900" b="0"/>
              <a:t>Транспортные квоты</a:t>
            </a:r>
          </a:p>
          <a:p>
            <a:r>
              <a:rPr sz="900" b="0"/>
              <a:t>Замороженный период транспортировки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0000" y="885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Производственные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40000" y="9578000"/>
            <a:ext cx="191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Производственный лидтайм</a:t>
            </a:r>
          </a:p>
          <a:p>
            <a:r>
              <a:rPr sz="900" b="0"/>
              <a:t>СКО производственного лидтайма</a:t>
            </a:r>
          </a:p>
          <a:p>
            <a:r>
              <a:rPr sz="900" b="0"/>
              <a:t>Минимальный размер партии выпуска</a:t>
            </a:r>
          </a:p>
          <a:p>
            <a:r>
              <a:rPr sz="900" b="0"/>
              <a:t>Округление партии выпуска</a:t>
            </a:r>
          </a:p>
          <a:p>
            <a:r>
              <a:rPr sz="900" b="0"/>
              <a:t>Размер партии выпуска в днях</a:t>
            </a:r>
          </a:p>
          <a:p>
            <a:r>
              <a:rPr sz="900" b="0"/>
              <a:t>Производственные квоты</a:t>
            </a:r>
          </a:p>
          <a:p>
            <a:r>
              <a:rPr sz="900" b="0"/>
              <a:t>Выходной коэффициент готового продукта</a:t>
            </a:r>
          </a:p>
          <a:p>
            <a:r>
              <a:rPr sz="900" b="0"/>
              <a:t>Коэффициент компонента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0000" y="1140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Данные о планировании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0000" y="12128000"/>
            <a:ext cx="191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Цикл планирования (DBNR)</a:t>
            </a:r>
          </a:p>
          <a:p>
            <a:r>
              <a:rPr sz="900" b="0"/>
              <a:t>Тип узла (хранимый, не хранимый)</a:t>
            </a:r>
          </a:p>
          <a:p>
            <a:r>
              <a:rPr sz="900" b="0"/>
              <a:t>Политика страхового запаса (гибридные узлы)</a:t>
            </a:r>
          </a:p>
          <a:p>
            <a:r>
              <a:rPr sz="900" b="0"/>
              <a:t>Мин. / макс. внутренний уровень сервиса</a:t>
            </a:r>
          </a:p>
          <a:p>
            <a:r>
              <a:rPr sz="900" b="0"/>
              <a:t>Мин. / макс. страховой запас в днях или ЕИ</a:t>
            </a:r>
          </a:p>
          <a:p>
            <a:r>
              <a:rPr sz="900" b="0"/>
              <a:t>Минимально необходимый запас</a:t>
            </a:r>
          </a:p>
          <a:p>
            <a:r>
              <a:rPr sz="900" b="0"/>
              <a:t>Максимальный доступный запас (On-Hand)</a:t>
            </a:r>
          </a:p>
          <a:p>
            <a:r>
              <a:rPr sz="900" b="0"/>
              <a:t>Штраф за превышение максимального запаса</a:t>
            </a:r>
          </a:p>
          <a:p>
            <a:r>
              <a:rPr sz="900" b="0"/>
              <a:t>Удельные затраты на содержание запаса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40000" y="1479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0000" y="15518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Собранные основные данные</a:t>
            </a:r>
          </a:p>
          <a:p>
            <a:r>
              <a:rPr sz="900" b="0"/>
              <a:t>Собранные данные о спросе</a:t>
            </a:r>
          </a:p>
          <a:p>
            <a:r>
              <a:rPr sz="900" b="0"/>
              <a:t>Собранные данные об источниках поставки</a:t>
            </a:r>
          </a:p>
          <a:p>
            <a:r>
              <a:rPr sz="900" b="0"/>
              <a:t>Собранные производственные данные</a:t>
            </a:r>
          </a:p>
          <a:p>
            <a:r>
              <a:rPr sz="900" b="0"/>
              <a:t>Собранные данные о планировании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40000" y="1684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0000" y="1756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40000" y="1872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0000" y="19442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40000" y="980000"/>
            <a:ext cx="2030000" cy="18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000" y="176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00000" y="325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000" y="397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Ошибка прогноза по горизонту из DP</a:t>
            </a:r>
          </a:p>
          <a:p>
            <a:r>
              <a:rPr sz="900" b="0"/>
              <a:t>Собственная история прогноза и факта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000" y="513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спроса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000" y="585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Новинки без истории</a:t>
            </a:r>
          </a:p>
          <a:p>
            <a:r>
              <a:rPr sz="900" b="0"/>
              <a:t>Позиции со сменой режима поставки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00000" y="684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000" y="756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000" y="82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поставок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0000" y="893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поставок</a:t>
            </a:r>
          </a:p>
          <a:p>
            <a:r>
              <a:rPr sz="900" b="0"/>
              <a:t>Новые поставщики и маршруты без истории</a:t>
            </a:r>
          </a:p>
          <a:p>
            <a:r>
              <a:rPr sz="900" b="0"/>
              <a:t>Согласованные изменения условий поставки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000" y="99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0000" y="106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00000" y="1146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производства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0000" y="12188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производства</a:t>
            </a:r>
          </a:p>
          <a:p>
            <a:r>
              <a:rPr sz="900" b="0"/>
              <a:t>Плановые остановки и ремонты</a:t>
            </a:r>
          </a:p>
          <a:p>
            <a:r>
              <a:rPr sz="900" b="0"/>
              <a:t>Изменения схемы разделки и глубины переработки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00000" y="980000"/>
            <a:ext cx="2030000" cy="18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Сегментация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6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60000" y="3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Lifecycle: стадия жизненного цикла</a:t>
            </a:r>
          </a:p>
          <a:p>
            <a:r>
              <a:rPr sz="900" b="0"/>
              <a:t>ADI-CV: характер спроса</a:t>
            </a:r>
          </a:p>
          <a:p>
            <a:r>
              <a:rPr sz="900" b="0"/>
              <a:t>ABC: вклад в оборот</a:t>
            </a:r>
          </a:p>
          <a:p>
            <a:r>
              <a:rPr sz="900" b="0"/>
              <a:t>FMR: частота обращения</a:t>
            </a:r>
          </a:p>
          <a:p>
            <a:r>
              <a:rPr sz="900" b="0"/>
              <a:t>XYZ: стабильность потребления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0000" y="980000"/>
            <a:ext cx="2030000" cy="18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0000" y="330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20000" y="429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0000" y="5012000"/>
            <a:ext cx="191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20000" y="667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0000" y="739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20000" y="872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0000" y="9440000"/>
            <a:ext cx="1910000" cy="2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20000" y="1160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20000" y="1232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20000" y="133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20000" y="14036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20000" y="15530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20000" y="980000"/>
            <a:ext cx="2030000" cy="18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80000" y="1760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180000" y="224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80000" y="2966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80000" y="345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80000" y="417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180000" y="48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OTIF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80000" y="5546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Заказы клиентов: даты и количества</a:t>
            </a:r>
          </a:p>
          <a:p>
            <a:r>
              <a:rPr sz="900" b="0"/>
              <a:t>Фактические отгрузки: даты и количества</a:t>
            </a:r>
          </a:p>
          <a:p>
            <a:r>
              <a:rPr sz="900" b="0"/>
              <a:t>Целевой OTIF по каналам и сетям</a:t>
            </a:r>
          </a:p>
          <a:p>
            <a:r>
              <a:rPr sz="900" b="0"/>
              <a:t>Опубликованные нормативы прошлого цикла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180000" y="687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80000" y="759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80000" y="8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Передача нормативов по запасам в SNP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80000" y="9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Утверждённые уровни запасов по эшелонам</a:t>
            </a:r>
          </a:p>
          <a:p>
            <a:r>
              <a:rPr sz="900" b="0"/>
              <a:t>Точка заказа и рекомендованный уровень сервиса</a:t>
            </a:r>
          </a:p>
          <a:p>
            <a:r>
              <a:rPr sz="900" b="0"/>
              <a:t>Горизонт и дата вступления в силу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80000" y="1029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180000" y="1106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Нормативы запасов в SNP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000" y="1956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0000" y="2932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0000" y="3908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0000" y="4884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Мастер-данные номенклатуры из ERP</a:t>
            </a:r>
          </a:p>
        </p:txBody>
      </p:sp>
      <p:cxnSp>
        <p:nvCxnSpPr>
          <p:cNvPr id="81" name="Connector 80"/>
          <p:cNvCxnSpPr>
            <a:stCxn id="12" idx="2"/>
            <a:endCxn id="14" idx="0"/>
          </p:cNvCxnSpPr>
          <p:nvPr/>
        </p:nvCxnSpPr>
        <p:spPr>
          <a:xfrm>
            <a:off x="2895000" y="12028000"/>
            <a:ext cx="0" cy="2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10" idx="2"/>
            <a:endCxn id="14" idx="0"/>
          </p:cNvCxnSpPr>
          <p:nvPr/>
        </p:nvCxnSpPr>
        <p:spPr>
          <a:xfrm>
            <a:off x="2895000" y="9478000"/>
            <a:ext cx="0" cy="532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8" idx="2"/>
            <a:endCxn id="14" idx="0"/>
          </p:cNvCxnSpPr>
          <p:nvPr/>
        </p:nvCxnSpPr>
        <p:spPr>
          <a:xfrm>
            <a:off x="2895000" y="6760000"/>
            <a:ext cx="0" cy="803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6" idx="2"/>
            <a:endCxn id="14" idx="0"/>
          </p:cNvCxnSpPr>
          <p:nvPr/>
        </p:nvCxnSpPr>
        <p:spPr>
          <a:xfrm>
            <a:off x="2895000" y="4714000"/>
            <a:ext cx="0" cy="1008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4" idx="2"/>
            <a:endCxn id="14" idx="0"/>
          </p:cNvCxnSpPr>
          <p:nvPr/>
        </p:nvCxnSpPr>
        <p:spPr>
          <a:xfrm>
            <a:off x="2895000" y="1660000"/>
            <a:ext cx="0" cy="1313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14" idx="2"/>
            <a:endCxn id="16" idx="0"/>
          </p:cNvCxnSpPr>
          <p:nvPr/>
        </p:nvCxnSpPr>
        <p:spPr>
          <a:xfrm>
            <a:off x="2895000" y="15418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16" idx="2"/>
            <a:endCxn id="18" idx="0"/>
          </p:cNvCxnSpPr>
          <p:nvPr/>
        </p:nvCxnSpPr>
        <p:spPr>
          <a:xfrm>
            <a:off x="2895000" y="17464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18" idx="0"/>
            <a:endCxn id="22" idx="2"/>
          </p:cNvCxnSpPr>
          <p:nvPr/>
        </p:nvCxnSpPr>
        <p:spPr>
          <a:xfrm flipV="1">
            <a:off x="2895000" y="1660000"/>
            <a:ext cx="2060000" cy="1706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22" idx="2"/>
            <a:endCxn id="24" idx="0"/>
          </p:cNvCxnSpPr>
          <p:nvPr/>
        </p:nvCxnSpPr>
        <p:spPr>
          <a:xfrm>
            <a:off x="49550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22" idx="2"/>
            <a:endCxn id="28" idx="0"/>
          </p:cNvCxnSpPr>
          <p:nvPr/>
        </p:nvCxnSpPr>
        <p:spPr>
          <a:xfrm>
            <a:off x="4955000" y="1660000"/>
            <a:ext cx="0" cy="518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>
            <a:stCxn id="22" idx="2"/>
            <a:endCxn id="32" idx="0"/>
          </p:cNvCxnSpPr>
          <p:nvPr/>
        </p:nvCxnSpPr>
        <p:spPr>
          <a:xfrm>
            <a:off x="4955000" y="1660000"/>
            <a:ext cx="0" cy="8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>
            <a:stCxn id="24" idx="2"/>
            <a:endCxn id="26" idx="0"/>
          </p:cNvCxnSpPr>
          <p:nvPr/>
        </p:nvCxnSpPr>
        <p:spPr>
          <a:xfrm>
            <a:off x="4955000" y="3874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>
            <a:stCxn id="28" idx="2"/>
            <a:endCxn id="30" idx="0"/>
          </p:cNvCxnSpPr>
          <p:nvPr/>
        </p:nvCxnSpPr>
        <p:spPr>
          <a:xfrm>
            <a:off x="4955000" y="746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>
            <a:stCxn id="32" idx="2"/>
            <a:endCxn id="34" idx="0"/>
          </p:cNvCxnSpPr>
          <p:nvPr/>
        </p:nvCxnSpPr>
        <p:spPr>
          <a:xfrm>
            <a:off x="4955000" y="105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>
            <a:stCxn id="26" idx="0"/>
            <a:endCxn id="38" idx="2"/>
          </p:cNvCxnSpPr>
          <p:nvPr/>
        </p:nvCxnSpPr>
        <p:spPr>
          <a:xfrm flipV="1">
            <a:off x="4955000" y="1660000"/>
            <a:ext cx="206000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>
            <a:stCxn id="38" idx="2"/>
            <a:endCxn id="40" idx="0"/>
          </p:cNvCxnSpPr>
          <p:nvPr/>
        </p:nvCxnSpPr>
        <p:spPr>
          <a:xfrm>
            <a:off x="701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>
            <a:stCxn id="40" idx="3"/>
            <a:endCxn id="44" idx="1"/>
          </p:cNvCxnSpPr>
          <p:nvPr/>
        </p:nvCxnSpPr>
        <p:spPr>
          <a:xfrm flipV="1">
            <a:off x="7970000" y="1350000"/>
            <a:ext cx="150000" cy="13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>
            <a:stCxn id="44" idx="2"/>
            <a:endCxn id="46" idx="0"/>
          </p:cNvCxnSpPr>
          <p:nvPr/>
        </p:nvCxnSpPr>
        <p:spPr>
          <a:xfrm>
            <a:off x="907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>
            <a:stCxn id="46" idx="2"/>
            <a:endCxn id="48" idx="0"/>
          </p:cNvCxnSpPr>
          <p:nvPr/>
        </p:nvCxnSpPr>
        <p:spPr>
          <a:xfrm>
            <a:off x="9075000" y="3202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>
            <a:stCxn id="46" idx="2"/>
            <a:endCxn id="50" idx="0"/>
          </p:cNvCxnSpPr>
          <p:nvPr/>
        </p:nvCxnSpPr>
        <p:spPr>
          <a:xfrm>
            <a:off x="9075000" y="3202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>
            <a:stCxn id="48" idx="2"/>
            <a:endCxn id="52" idx="0"/>
          </p:cNvCxnSpPr>
          <p:nvPr/>
        </p:nvCxnSpPr>
        <p:spPr>
          <a:xfrm>
            <a:off x="9075000" y="4912000"/>
            <a:ext cx="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>
            <a:stCxn id="50" idx="2"/>
            <a:endCxn id="54" idx="0"/>
          </p:cNvCxnSpPr>
          <p:nvPr/>
        </p:nvCxnSpPr>
        <p:spPr>
          <a:xfrm>
            <a:off x="9075000" y="7294000"/>
            <a:ext cx="0" cy="43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>
            <a:stCxn id="52" idx="2"/>
            <a:endCxn id="54" idx="0"/>
          </p:cNvCxnSpPr>
          <p:nvPr/>
        </p:nvCxnSpPr>
        <p:spPr>
          <a:xfrm>
            <a:off x="9075000" y="9340000"/>
            <a:ext cx="0" cy="2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>
            <a:stCxn id="52" idx="2"/>
            <a:endCxn id="56" idx="0"/>
          </p:cNvCxnSpPr>
          <p:nvPr/>
        </p:nvCxnSpPr>
        <p:spPr>
          <a:xfrm>
            <a:off x="9075000" y="9340000"/>
            <a:ext cx="0" cy="397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>
            <a:stCxn id="54" idx="0"/>
            <a:endCxn id="65" idx="2"/>
          </p:cNvCxnSpPr>
          <p:nvPr/>
        </p:nvCxnSpPr>
        <p:spPr>
          <a:xfrm flipV="1">
            <a:off x="9075000" y="4072000"/>
            <a:ext cx="2060000" cy="75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>
            <a:stCxn id="52" idx="0"/>
            <a:endCxn id="61" idx="2"/>
          </p:cNvCxnSpPr>
          <p:nvPr/>
        </p:nvCxnSpPr>
        <p:spPr>
          <a:xfrm flipV="1">
            <a:off x="9075000" y="1660000"/>
            <a:ext cx="2060000" cy="70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>
            <a:stCxn id="52" idx="0"/>
            <a:endCxn id="63" idx="2"/>
          </p:cNvCxnSpPr>
          <p:nvPr/>
        </p:nvCxnSpPr>
        <p:spPr>
          <a:xfrm flipV="1">
            <a:off x="9075000" y="2866000"/>
            <a:ext cx="2060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>
            <a:stCxn id="61" idx="2"/>
            <a:endCxn id="69" idx="0"/>
          </p:cNvCxnSpPr>
          <p:nvPr/>
        </p:nvCxnSpPr>
        <p:spPr>
          <a:xfrm>
            <a:off x="11135000" y="1660000"/>
            <a:ext cx="0" cy="52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>
            <a:stCxn id="63" idx="2"/>
            <a:endCxn id="69" idx="0"/>
          </p:cNvCxnSpPr>
          <p:nvPr/>
        </p:nvCxnSpPr>
        <p:spPr>
          <a:xfrm>
            <a:off x="11135000" y="2866000"/>
            <a:ext cx="0" cy="400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>
            <a:stCxn id="65" idx="2"/>
            <a:endCxn id="69" idx="0"/>
          </p:cNvCxnSpPr>
          <p:nvPr/>
        </p:nvCxnSpPr>
        <p:spPr>
          <a:xfrm>
            <a:off x="11135000" y="4072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>
            <a:stCxn id="69" idx="2"/>
            <a:endCxn id="71" idx="0"/>
          </p:cNvCxnSpPr>
          <p:nvPr/>
        </p:nvCxnSpPr>
        <p:spPr>
          <a:xfrm>
            <a:off x="11135000" y="7492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>
            <a:stCxn id="67" idx="2"/>
            <a:endCxn id="69" idx="0"/>
          </p:cNvCxnSpPr>
          <p:nvPr/>
        </p:nvCxnSpPr>
        <p:spPr>
          <a:xfrm>
            <a:off x="11135000" y="5446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>
            <a:stCxn id="75" idx="2"/>
            <a:endCxn id="14" idx="0"/>
          </p:cNvCxnSpPr>
          <p:nvPr/>
        </p:nvCxnSpPr>
        <p:spPr>
          <a:xfrm>
            <a:off x="900000" y="1600000"/>
            <a:ext cx="1995000" cy="131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>
            <a:stCxn id="76" idx="3"/>
            <a:endCxn id="24" idx="1"/>
          </p:cNvCxnSpPr>
          <p:nvPr/>
        </p:nvCxnSpPr>
        <p:spPr>
          <a:xfrm>
            <a:off x="1700000" y="2266000"/>
            <a:ext cx="2300000" cy="129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>
            <a:stCxn id="77" idx="3"/>
            <a:endCxn id="24" idx="1"/>
          </p:cNvCxnSpPr>
          <p:nvPr/>
        </p:nvCxnSpPr>
        <p:spPr>
          <a:xfrm>
            <a:off x="1700000" y="3242000"/>
            <a:ext cx="2300000" cy="322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>
            <a:stCxn id="78" idx="3"/>
            <a:endCxn id="22" idx="1"/>
          </p:cNvCxnSpPr>
          <p:nvPr/>
        </p:nvCxnSpPr>
        <p:spPr>
          <a:xfrm flipV="1">
            <a:off x="1700000" y="1350000"/>
            <a:ext cx="2300000" cy="286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>
            <a:stCxn id="79" idx="3"/>
            <a:endCxn id="22" idx="1"/>
          </p:cNvCxnSpPr>
          <p:nvPr/>
        </p:nvCxnSpPr>
        <p:spPr>
          <a:xfrm flipV="1">
            <a:off x="1700000" y="1350000"/>
            <a:ext cx="2300000" cy="384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>
            <a:stCxn id="80" idx="3"/>
            <a:endCxn id="38" idx="1"/>
          </p:cNvCxnSpPr>
          <p:nvPr/>
        </p:nvCxnSpPr>
        <p:spPr>
          <a:xfrm flipV="1">
            <a:off x="1700000" y="1350000"/>
            <a:ext cx="4360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>
            <a:stCxn id="48" idx="2"/>
            <a:endCxn id="58" idx="0"/>
          </p:cNvCxnSpPr>
          <p:nvPr/>
        </p:nvCxnSpPr>
        <p:spPr>
          <a:xfrm>
            <a:off x="9075000" y="4912000"/>
            <a:ext cx="0" cy="1061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>
            <a:stCxn id="69" idx="2"/>
            <a:endCxn id="73" idx="0"/>
          </p:cNvCxnSpPr>
          <p:nvPr/>
        </p:nvCxnSpPr>
        <p:spPr>
          <a:xfrm>
            <a:off x="11135000" y="7492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>
            <a:stCxn id="71" idx="2"/>
            <a:endCxn id="74" idx="0"/>
          </p:cNvCxnSpPr>
          <p:nvPr/>
        </p:nvCxnSpPr>
        <p:spPr>
          <a:xfrm>
            <a:off x="11135000" y="9034000"/>
            <a:ext cx="0" cy="202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