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195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80000" y="980000"/>
            <a:ext cx="2030000" cy="18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8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Получение данных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4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Основные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0000" y="1760000"/>
            <a:ext cx="1910000" cy="21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Продукт</a:t>
            </a:r>
          </a:p>
          <a:p>
            <a:r>
              <a:rPr sz="900" b="0"/>
              <a:t>Локация</a:t>
            </a:r>
          </a:p>
          <a:p>
            <a:r>
              <a:rPr sz="900" b="0"/>
              <a:t>Продукт-Локация</a:t>
            </a:r>
          </a:p>
          <a:p>
            <a:r>
              <a:rPr sz="900" b="0"/>
              <a:t>Групповой клиент, источники для гр. клиента</a:t>
            </a:r>
          </a:p>
          <a:p>
            <a:r>
              <a:rPr sz="900" b="0"/>
              <a:t>Транспортные отношения</a:t>
            </a:r>
          </a:p>
          <a:p>
            <a:r>
              <a:rPr sz="900" b="0"/>
              <a:t>Производственная спецификация</a:t>
            </a:r>
          </a:p>
          <a:p>
            <a:r>
              <a:rPr sz="900" b="0"/>
              <a:t>Компоненты производственной спецификации</a:t>
            </a:r>
          </a:p>
          <a:p>
            <a:r>
              <a:rPr sz="900" b="0"/>
              <a:t>Поставщик, источники поставщика</a:t>
            </a:r>
          </a:p>
          <a:p>
            <a:r>
              <a:rPr sz="900" b="0"/>
              <a:t>Валюта, курсы обмена</a:t>
            </a:r>
          </a:p>
          <a:p>
            <a:r>
              <a:rPr sz="900" b="0"/>
              <a:t>Единицы измерения, коэффициенты пересчёта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0000" y="409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Данные о спросе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0000" y="4814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Целевой уровень сервиса</a:t>
            </a:r>
          </a:p>
          <a:p>
            <a:r>
              <a:rPr sz="900" b="0"/>
              <a:t>Тип уровня сервиса</a:t>
            </a:r>
          </a:p>
          <a:p>
            <a:r>
              <a:rPr sz="900" b="0"/>
              <a:t>История прогноза спроса и история расхода</a:t>
            </a:r>
          </a:p>
          <a:p>
            <a:r>
              <a:rPr sz="900" b="0"/>
              <a:t>Будущий прогноз спроса</a:t>
            </a:r>
          </a:p>
          <a:p>
            <a:r>
              <a:rPr sz="900" b="0"/>
              <a:t>СКО ошибки прогноза</a:t>
            </a:r>
          </a:p>
          <a:p>
            <a:r>
              <a:rPr sz="900" b="0"/>
              <a:t>Замороженный период спроса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0000" y="61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Источники поставки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0000" y="6860000"/>
            <a:ext cx="1910000" cy="18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Транспортный лидтайм</a:t>
            </a:r>
          </a:p>
          <a:p>
            <a:r>
              <a:rPr sz="900" b="0"/>
              <a:t>СКО транспортного лидтайма</a:t>
            </a:r>
          </a:p>
          <a:p>
            <a:r>
              <a:rPr sz="900" b="0"/>
              <a:t>Минимальный размер партии транспортировки</a:t>
            </a:r>
          </a:p>
          <a:p>
            <a:r>
              <a:rPr sz="900" b="0"/>
              <a:t>Округление партии транспортировки</a:t>
            </a:r>
          </a:p>
          <a:p>
            <a:r>
              <a:rPr sz="900" b="0"/>
              <a:t>Размер партии транспортировки в днях</a:t>
            </a:r>
          </a:p>
          <a:p>
            <a:r>
              <a:rPr sz="900" b="0"/>
              <a:t>Транспортные квоты</a:t>
            </a:r>
          </a:p>
          <a:p>
            <a:r>
              <a:rPr sz="900" b="0"/>
              <a:t>Замороженный период транспортировки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0000" y="885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Производственные 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0000" y="9578000"/>
            <a:ext cx="191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Производственный лидтайм</a:t>
            </a:r>
          </a:p>
          <a:p>
            <a:r>
              <a:rPr sz="900" b="0"/>
              <a:t>СКО производственного лидтайма</a:t>
            </a:r>
          </a:p>
          <a:p>
            <a:r>
              <a:rPr sz="900" b="0"/>
              <a:t>Минимальный размер партии выпуска</a:t>
            </a:r>
          </a:p>
          <a:p>
            <a:r>
              <a:rPr sz="900" b="0"/>
              <a:t>Округление партии выпуска</a:t>
            </a:r>
          </a:p>
          <a:p>
            <a:r>
              <a:rPr sz="900" b="0"/>
              <a:t>Размер партии выпуска в днях</a:t>
            </a:r>
          </a:p>
          <a:p>
            <a:r>
              <a:rPr sz="900" b="0"/>
              <a:t>Производственные квоты</a:t>
            </a:r>
          </a:p>
          <a:p>
            <a:r>
              <a:rPr sz="900" b="0"/>
              <a:t>Выходной коэффициент готового продукта</a:t>
            </a:r>
          </a:p>
          <a:p>
            <a:r>
              <a:rPr sz="900" b="0"/>
              <a:t>Коэффициент компонента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0000" y="1140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Данные о планировании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0000" y="12128000"/>
            <a:ext cx="191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Цикл планирования (DBNR)</a:t>
            </a:r>
          </a:p>
          <a:p>
            <a:r>
              <a:rPr sz="900" b="0"/>
              <a:t>Тип узла (хранимый, не хранимый)</a:t>
            </a:r>
          </a:p>
          <a:p>
            <a:r>
              <a:rPr sz="900" b="0"/>
              <a:t>Политика страхового запаса (гибридные узлы)</a:t>
            </a:r>
          </a:p>
          <a:p>
            <a:r>
              <a:rPr sz="900" b="0"/>
              <a:t>Мин. / макс. внутренний уровень сервиса</a:t>
            </a:r>
          </a:p>
          <a:p>
            <a:r>
              <a:rPr sz="900" b="0"/>
              <a:t>Мин. / макс. страховой запас в днях или ЕИ</a:t>
            </a:r>
          </a:p>
          <a:p>
            <a:r>
              <a:rPr sz="900" b="0"/>
              <a:t>Минимально необходимый запас</a:t>
            </a:r>
          </a:p>
          <a:p>
            <a:r>
              <a:rPr sz="900" b="0"/>
              <a:t>Максимальный доступный запас (On-Hand)</a:t>
            </a:r>
          </a:p>
          <a:p>
            <a:r>
              <a:rPr sz="900" b="0"/>
              <a:t>Штраф за превышение максимального запаса</a:t>
            </a:r>
          </a:p>
          <a:p>
            <a:r>
              <a:rPr sz="900" b="0"/>
              <a:t>Удельные затраты на содержание запаса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0000" y="1479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Подготовка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0000" y="15518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Собранные основные данные</a:t>
            </a:r>
          </a:p>
          <a:p>
            <a:r>
              <a:rPr sz="900" b="0"/>
              <a:t>Собранные данные о спросе</a:t>
            </a:r>
          </a:p>
          <a:p>
            <a:r>
              <a:rPr sz="900" b="0"/>
              <a:t>Собранные данные об источниках поставки</a:t>
            </a:r>
          </a:p>
          <a:p>
            <a:r>
              <a:rPr sz="900" b="0"/>
              <a:t>Собранные производственные данные</a:t>
            </a:r>
          </a:p>
          <a:p>
            <a:r>
              <a:rPr sz="900" b="0"/>
              <a:t>Собранные данные о планировании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40000" y="1684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Проверка мастер-данных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000" y="17564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Полнота карточек товара и локаций</a:t>
            </a:r>
          </a:p>
          <a:p>
            <a:r>
              <a:rPr sz="900" b="0"/>
              <a:t>Единицы измерения и кратности</a:t>
            </a:r>
          </a:p>
          <a:p>
            <a:r>
              <a:rPr sz="900" b="0"/>
              <a:t>Дубли и неактуальные записи</a:t>
            </a:r>
          </a:p>
          <a:p>
            <a:r>
              <a:rPr sz="900" b="0"/>
              <a:t>Атрибуты сроков годности и температурных режимов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40000" y="1872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Проверка цепочки на связанность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000" y="19442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У каждой связки продукт-локация есть источник поставки</a:t>
            </a:r>
          </a:p>
          <a:p>
            <a:r>
              <a:rPr sz="900" b="0"/>
              <a:t>Нет разрывов между эшелонами</a:t>
            </a:r>
          </a:p>
          <a:p>
            <a:r>
              <a:rPr sz="900" b="0"/>
              <a:t>Квоты и маршруты заданы для всех связей</a:t>
            </a:r>
          </a:p>
          <a:p>
            <a:r>
              <a:rPr sz="900" b="0"/>
              <a:t>Лидтаймы проставлены по всем дугам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40000" y="980000"/>
            <a:ext cx="2030000" cy="18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4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Подготовка к расчёту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Настройка параметров расчёта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000" y="1760000"/>
            <a:ext cx="1910000" cy="13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Плановые лидтаймы и отклонения</a:t>
            </a:r>
          </a:p>
          <a:p>
            <a:r>
              <a:rPr sz="900" b="0"/>
              <a:t>Квоты и приоритеты источников</a:t>
            </a:r>
          </a:p>
          <a:p>
            <a:r>
              <a:rPr sz="900" b="0"/>
              <a:t>Затраты на хранение</a:t>
            </a:r>
          </a:p>
          <a:p>
            <a:r>
              <a:rPr sz="900" b="0"/>
              <a:t>Минимальный размер партии и кратность</a:t>
            </a:r>
          </a:p>
          <a:p>
            <a:r>
              <a:rPr sz="900" b="0"/>
              <a:t>Срок годности и остаточный срок при приёмке</a:t>
            </a:r>
          </a:p>
          <a:p>
            <a:r>
              <a:rPr sz="900" b="0"/>
              <a:t>Политика FEFO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0000" y="325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Расчёт волатильности спроса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0" y="3974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История отгрузок за период</a:t>
            </a:r>
          </a:p>
          <a:p>
            <a:r>
              <a:rPr sz="900" b="0"/>
              <a:t>Незакрытый спрос и списания</a:t>
            </a:r>
          </a:p>
          <a:p>
            <a:r>
              <a:rPr sz="900" b="0"/>
              <a:t>Ошибка прогноза по горизонту из DP</a:t>
            </a:r>
          </a:p>
          <a:p>
            <a:r>
              <a:rPr sz="900" b="0"/>
              <a:t>Собственная история прогноза и факта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000" y="513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Корректировка CV спроса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000" y="5852000"/>
            <a:ext cx="191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CV спроса</a:t>
            </a:r>
          </a:p>
          <a:p>
            <a:r>
              <a:rPr sz="900" b="0"/>
              <a:t>Новинки без истории</a:t>
            </a:r>
          </a:p>
          <a:p>
            <a:r>
              <a:rPr sz="900" b="0"/>
              <a:t>Позиции со сменой режима поставки</a:t>
            </a:r>
          </a:p>
          <a:p>
            <a:r>
              <a:rPr sz="900" b="0"/>
              <a:t>Экспертная правка по сегментам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000" y="684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Расчёт CV длительности поставок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0" y="7562000"/>
            <a:ext cx="191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Плановые и фактические длительности поставок</a:t>
            </a:r>
          </a:p>
          <a:p>
            <a:r>
              <a:rPr sz="900" b="0"/>
              <a:t>Отклонения по дугам сети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0000" y="821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Корректировка CV длительности поставок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000" y="8936000"/>
            <a:ext cx="191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CV длительности поставок</a:t>
            </a:r>
          </a:p>
          <a:p>
            <a:r>
              <a:rPr sz="900" b="0"/>
              <a:t>Новые поставщики и маршруты без истории</a:t>
            </a:r>
          </a:p>
          <a:p>
            <a:r>
              <a:rPr sz="900" b="0"/>
              <a:t>Согласованные изменения условий поставки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00000" y="992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Расчёт CV длительности производства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000" y="10646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Плановые и фактические длительности производства</a:t>
            </a:r>
          </a:p>
          <a:p>
            <a:r>
              <a:rPr sz="900" b="0"/>
              <a:t>Отклонения по производственным заказам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00000" y="11468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Корректировка CV длительности производства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000" y="12188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CV длительности производства</a:t>
            </a:r>
          </a:p>
          <a:p>
            <a:r>
              <a:rPr sz="900" b="0"/>
              <a:t>Плановые остановки и ремонты</a:t>
            </a:r>
          </a:p>
          <a:p>
            <a:r>
              <a:rPr sz="900" b="0"/>
              <a:t>Изменения схемы разделки и глубины переработки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00000" y="980000"/>
            <a:ext cx="2030000" cy="18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Сегментация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6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ABC-классификация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0000" y="1760000"/>
            <a:ext cx="191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Вклад в оборот</a:t>
            </a:r>
          </a:p>
          <a:p>
            <a:r>
              <a:rPr sz="900" b="0"/>
              <a:t>Вклад в объём</a:t>
            </a:r>
          </a:p>
          <a:p>
            <a:r>
              <a:rPr sz="900" b="0"/>
              <a:t>Пороги классов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60000" y="241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Сегментация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0000" y="3134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Lifecycle: стадия жизненного цикла</a:t>
            </a:r>
          </a:p>
          <a:p>
            <a:r>
              <a:rPr sz="900" b="0"/>
              <a:t>ADI-CV: характер спроса</a:t>
            </a:r>
          </a:p>
          <a:p>
            <a:r>
              <a:rPr sz="900" b="0"/>
              <a:t>ABC: вклад в оборот</a:t>
            </a:r>
          </a:p>
          <a:p>
            <a:r>
              <a:rPr sz="900" b="0"/>
              <a:t>FMR: частота обращения</a:t>
            </a:r>
          </a:p>
          <a:p>
            <a:r>
              <a:rPr sz="900" b="0"/>
              <a:t>XYZ: стабильность потребления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0000" y="980000"/>
            <a:ext cx="2030000" cy="18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Расчёт и анализ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Определение стратегии MTS-MTO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0000" y="1760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Сегментация по пяти признакам</a:t>
            </a:r>
          </a:p>
          <a:p>
            <a:r>
              <a:rPr sz="900" b="0"/>
              <a:t>Длительность цикла против срока ожидания клиента</a:t>
            </a:r>
          </a:p>
          <a:p>
            <a:r>
              <a:rPr sz="900" b="0"/>
              <a:t>Срок годности позиции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0000" y="258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Выбор политики пополнения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0000" y="3302000"/>
            <a:ext cx="191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Стратегия MTS или MTO по позиции</a:t>
            </a:r>
          </a:p>
          <a:p>
            <a:r>
              <a:rPr sz="900" b="0"/>
              <a:t>Сегментация по пяти признакам</a:t>
            </a:r>
          </a:p>
          <a:p>
            <a:r>
              <a:rPr sz="900" b="0"/>
              <a:t>Календари пополнения</a:t>
            </a:r>
          </a:p>
          <a:p>
            <a:r>
              <a:rPr sz="900" b="0"/>
              <a:t>Минимальный размер партии и кратность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0000" y="429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Мультиэшелонная оптимизация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0000" y="5012000"/>
            <a:ext cx="191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Настроенные параметры расчёта</a:t>
            </a:r>
          </a:p>
          <a:p>
            <a:r>
              <a:rPr sz="900" b="0"/>
              <a:t>Скорректированный CV спроса</a:t>
            </a:r>
          </a:p>
          <a:p>
            <a:r>
              <a:rPr sz="900" b="0"/>
              <a:t>Скорректированный CV длительности поставок</a:t>
            </a:r>
          </a:p>
          <a:p>
            <a:r>
              <a:rPr sz="900" b="0"/>
              <a:t>Скорректированный CV длительности производства</a:t>
            </a:r>
          </a:p>
          <a:p>
            <a:r>
              <a:rPr sz="900" b="0"/>
              <a:t>Политика пополнения по позиции</a:t>
            </a:r>
          </a:p>
          <a:p>
            <a:r>
              <a:rPr sz="900" b="0"/>
              <a:t>Ограничения: мощности, бюджет, срок годности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0000" y="667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Изолированная оптимизация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0000" y="7394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Настроенные параметры расчёта</a:t>
            </a:r>
          </a:p>
          <a:p>
            <a:r>
              <a:rPr sz="900" b="0"/>
              <a:t>Скорректированный CV спроса</a:t>
            </a:r>
          </a:p>
          <a:p>
            <a:r>
              <a:rPr sz="900" b="0"/>
              <a:t>Скорректированный CV длительности поставок</a:t>
            </a:r>
          </a:p>
          <a:p>
            <a:r>
              <a:rPr sz="900" b="0"/>
              <a:t>Скорректированный CV длительности производства</a:t>
            </a:r>
          </a:p>
          <a:p>
            <a:r>
              <a:rPr sz="900" b="0"/>
              <a:t>Политика пополнения по позиции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20000" y="872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Сценарное моделирование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0000" y="9440000"/>
            <a:ext cx="1910000" cy="2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База (as is): текущие политики и параметры</a:t>
            </a:r>
          </a:p>
          <a:p>
            <a:r>
              <a:rPr sz="900" b="0"/>
              <a:t>Пересчёт по фильтрам: склад, канал, категория, сегмент</a:t>
            </a:r>
          </a:p>
          <a:p>
            <a:r>
              <a:rPr sz="900" b="0"/>
              <a:t>Сервис 98% по федеральным сетям</a:t>
            </a:r>
          </a:p>
          <a:p>
            <a:r>
              <a:rPr sz="900" b="0"/>
              <a:t>Учащённое пополнение охлаждённой продукции</a:t>
            </a:r>
          </a:p>
          <a:p>
            <a:r>
              <a:rPr sz="900" b="0"/>
              <a:t>Сокращение лидтайма и его разброса</a:t>
            </a:r>
          </a:p>
          <a:p>
            <a:r>
              <a:rPr sz="900" b="0"/>
              <a:t>Ограничение по мощностям холода</a:t>
            </a:r>
          </a:p>
          <a:p>
            <a:r>
              <a:rPr sz="900" b="0"/>
              <a:t>Бюджет запаса −15%</a:t>
            </a:r>
          </a:p>
          <a:p>
            <a:r>
              <a:rPr sz="900" b="0"/>
              <a:t>Сезонный пик: май–сентябрь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20000" y="1160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Сравнение со страховыми запасами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0000" y="12326000"/>
            <a:ext cx="191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Рекомендованные уровни запасов по эшелонам</a:t>
            </a:r>
          </a:p>
          <a:p>
            <a:r>
              <a:rPr sz="900" b="0"/>
              <a:t>Действующие страховые запасы</a:t>
            </a:r>
          </a:p>
          <a:p>
            <a:r>
              <a:rPr sz="900" b="0"/>
              <a:t>Уровни запасов по узлам без учёта сети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20000" y="1331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Анализ предупреждений расчёта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20000" y="14036000"/>
            <a:ext cx="1910000" cy="13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Предупреждение: покрытие превышает остаточный срок годности</a:t>
            </a:r>
          </a:p>
          <a:p>
            <a:r>
              <a:rPr sz="900" b="0"/>
              <a:t>Предупреждение: рекомендованный уровень ниже минимальной партии</a:t>
            </a:r>
          </a:p>
          <a:p>
            <a:r>
              <a:rPr sz="900" b="0"/>
              <a:t>Предупреждение: целевой запас не помещается в мощности хранения</a:t>
            </a:r>
          </a:p>
          <a:p>
            <a:r>
              <a:rPr sz="900" b="0"/>
              <a:t>Предупреждение: отклонение от целевого уровня сервиса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0000" y="15530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Уровни запасов в SNP/PS и MRP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20000" y="980000"/>
            <a:ext cx="2030000" cy="18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20000" y="500000"/>
            <a:ext cx="2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Оценка эффектов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80000" y="1040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Отчёт по ошибке прогноза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00" y="1760000"/>
            <a:ext cx="191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Прогноз спроса из DP</a:t>
            </a:r>
          </a:p>
          <a:p>
            <a:r>
              <a:rPr sz="900" b="0"/>
              <a:t>Фактические отгрузки за период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80000" y="224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Отчёт по сегментации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0000" y="2966000"/>
            <a:ext cx="191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Сегментация по пяти признакам</a:t>
            </a:r>
          </a:p>
          <a:p>
            <a:r>
              <a:rPr sz="900" b="0"/>
              <a:t>Классы ABC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80000" y="345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Отчёт по страховым запасам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80000" y="4172000"/>
            <a:ext cx="191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Рекомендованные уровни запасов по эшелонам</a:t>
            </a:r>
          </a:p>
          <a:p>
            <a:r>
              <a:rPr sz="900" b="0"/>
              <a:t>Три сценария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80000" y="4826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Отчёт по OTIF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80000" y="5546000"/>
            <a:ext cx="1910000" cy="1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Заказы клиентов: даты и количества</a:t>
            </a:r>
          </a:p>
          <a:p>
            <a:r>
              <a:rPr sz="900" b="0"/>
              <a:t>Фактические отгрузки: даты и количества</a:t>
            </a:r>
          </a:p>
          <a:p>
            <a:r>
              <a:rPr sz="900" b="0"/>
              <a:t>Целевой OTIF по каналам и сетям</a:t>
            </a:r>
          </a:p>
          <a:p>
            <a:r>
              <a:rPr sz="900" b="0"/>
              <a:t>Опубликованные нормативы прошлого цикла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80000" y="6872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Оценка эффектов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80000" y="7592000"/>
            <a:ext cx="1910000" cy="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Ошибка прогноза по горизонту</a:t>
            </a:r>
          </a:p>
          <a:p>
            <a:r>
              <a:rPr sz="900" b="0"/>
              <a:t>Отчёт по сегментации</a:t>
            </a:r>
          </a:p>
          <a:p>
            <a:r>
              <a:rPr sz="900" b="0"/>
              <a:t>Отчёт по страховым запасам</a:t>
            </a:r>
          </a:p>
          <a:p>
            <a:r>
              <a:rPr sz="900" b="0"/>
              <a:t>Сравнение сценариев по эффектам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80000" y="8414000"/>
            <a:ext cx="1910000" cy="6200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/>
              <a:t>Передача нормативов по запасам в SNP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80000" y="9134000"/>
            <a:ext cx="191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Утверждённые уровни запасов по эшелонам</a:t>
            </a:r>
          </a:p>
          <a:p>
            <a:r>
              <a:rPr sz="900" b="0"/>
              <a:t>Точка заказа и рекомендованный уровень сервиса</a:t>
            </a:r>
          </a:p>
          <a:p>
            <a:r>
              <a:rPr sz="900" b="0"/>
              <a:t>Горизонт и дата вступления в силу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80000" y="10292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Оценка эффектов и рекомендации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80000" y="11062000"/>
            <a:ext cx="191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Нормативы запасов в SNP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000" y="980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Структура текущих запасов и фактические отгрузки из ERP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00" y="1956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Прогноз спроса из DP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00" y="2932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Ошибка прогноза по горизонту из DP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000" y="3908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Параметры цепочки из ERP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000" y="4884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Сроки годности и требования сетей к остаточному сроку из ERP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000" y="5860000"/>
            <a:ext cx="1600000" cy="62000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Мастер-данные номенклатуры из ERP</a:t>
            </a:r>
          </a:p>
        </p:txBody>
      </p:sp>
      <p:cxnSp>
        <p:nvCxnSpPr>
          <p:cNvPr id="81" name="Connector 80"/>
          <p:cNvCxnSpPr>
            <a:stCxn id="12" idx="2"/>
            <a:endCxn id="14" idx="0"/>
          </p:cNvCxnSpPr>
          <p:nvPr/>
        </p:nvCxnSpPr>
        <p:spPr>
          <a:xfrm>
            <a:off x="2895000" y="12028000"/>
            <a:ext cx="0" cy="277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10" idx="2"/>
            <a:endCxn id="14" idx="0"/>
          </p:cNvCxnSpPr>
          <p:nvPr/>
        </p:nvCxnSpPr>
        <p:spPr>
          <a:xfrm>
            <a:off x="2895000" y="9478000"/>
            <a:ext cx="0" cy="532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8" idx="2"/>
            <a:endCxn id="14" idx="0"/>
          </p:cNvCxnSpPr>
          <p:nvPr/>
        </p:nvCxnSpPr>
        <p:spPr>
          <a:xfrm>
            <a:off x="2895000" y="6760000"/>
            <a:ext cx="0" cy="803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>
            <a:stCxn id="6" idx="2"/>
            <a:endCxn id="14" idx="0"/>
          </p:cNvCxnSpPr>
          <p:nvPr/>
        </p:nvCxnSpPr>
        <p:spPr>
          <a:xfrm>
            <a:off x="2895000" y="4714000"/>
            <a:ext cx="0" cy="1008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>
            <a:stCxn id="4" idx="2"/>
            <a:endCxn id="14" idx="0"/>
          </p:cNvCxnSpPr>
          <p:nvPr/>
        </p:nvCxnSpPr>
        <p:spPr>
          <a:xfrm>
            <a:off x="2895000" y="1660000"/>
            <a:ext cx="0" cy="1313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>
            <a:stCxn id="14" idx="2"/>
            <a:endCxn id="16" idx="0"/>
          </p:cNvCxnSpPr>
          <p:nvPr/>
        </p:nvCxnSpPr>
        <p:spPr>
          <a:xfrm>
            <a:off x="2895000" y="15418000"/>
            <a:ext cx="0" cy="142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>
            <a:stCxn id="16" idx="2"/>
            <a:endCxn id="18" idx="0"/>
          </p:cNvCxnSpPr>
          <p:nvPr/>
        </p:nvCxnSpPr>
        <p:spPr>
          <a:xfrm>
            <a:off x="2895000" y="17464000"/>
            <a:ext cx="0" cy="125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>
            <a:stCxn id="18" idx="0"/>
            <a:endCxn id="22" idx="2"/>
          </p:cNvCxnSpPr>
          <p:nvPr/>
        </p:nvCxnSpPr>
        <p:spPr>
          <a:xfrm flipV="1">
            <a:off x="2895000" y="1660000"/>
            <a:ext cx="2060000" cy="1706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>
            <a:stCxn id="22" idx="2"/>
            <a:endCxn id="24" idx="0"/>
          </p:cNvCxnSpPr>
          <p:nvPr/>
        </p:nvCxnSpPr>
        <p:spPr>
          <a:xfrm>
            <a:off x="4955000" y="1660000"/>
            <a:ext cx="0" cy="159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stCxn id="22" idx="2"/>
            <a:endCxn id="28" idx="0"/>
          </p:cNvCxnSpPr>
          <p:nvPr/>
        </p:nvCxnSpPr>
        <p:spPr>
          <a:xfrm>
            <a:off x="4955000" y="1660000"/>
            <a:ext cx="0" cy="518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>
            <a:stCxn id="22" idx="2"/>
            <a:endCxn id="32" idx="0"/>
          </p:cNvCxnSpPr>
          <p:nvPr/>
        </p:nvCxnSpPr>
        <p:spPr>
          <a:xfrm>
            <a:off x="4955000" y="1660000"/>
            <a:ext cx="0" cy="826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>
            <a:stCxn id="24" idx="2"/>
            <a:endCxn id="26" idx="0"/>
          </p:cNvCxnSpPr>
          <p:nvPr/>
        </p:nvCxnSpPr>
        <p:spPr>
          <a:xfrm>
            <a:off x="4955000" y="3874000"/>
            <a:ext cx="0" cy="125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>
            <a:stCxn id="28" idx="2"/>
            <a:endCxn id="30" idx="0"/>
          </p:cNvCxnSpPr>
          <p:nvPr/>
        </p:nvCxnSpPr>
        <p:spPr>
          <a:xfrm>
            <a:off x="4955000" y="7462000"/>
            <a:ext cx="0" cy="75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>
            <a:stCxn id="32" idx="2"/>
            <a:endCxn id="34" idx="0"/>
          </p:cNvCxnSpPr>
          <p:nvPr/>
        </p:nvCxnSpPr>
        <p:spPr>
          <a:xfrm>
            <a:off x="4955000" y="10546000"/>
            <a:ext cx="0" cy="92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>
            <a:stCxn id="26" idx="0"/>
            <a:endCxn id="38" idx="2"/>
          </p:cNvCxnSpPr>
          <p:nvPr/>
        </p:nvCxnSpPr>
        <p:spPr>
          <a:xfrm flipV="1">
            <a:off x="4955000" y="1660000"/>
            <a:ext cx="2060000" cy="347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>
            <a:stCxn id="38" idx="2"/>
            <a:endCxn id="40" idx="0"/>
          </p:cNvCxnSpPr>
          <p:nvPr/>
        </p:nvCxnSpPr>
        <p:spPr>
          <a:xfrm>
            <a:off x="7015000" y="1660000"/>
            <a:ext cx="0" cy="75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>
            <a:stCxn id="40" idx="3"/>
            <a:endCxn id="44" idx="1"/>
          </p:cNvCxnSpPr>
          <p:nvPr/>
        </p:nvCxnSpPr>
        <p:spPr>
          <a:xfrm flipV="1">
            <a:off x="7970000" y="1350000"/>
            <a:ext cx="150000" cy="137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stCxn id="44" idx="2"/>
            <a:endCxn id="46" idx="0"/>
          </p:cNvCxnSpPr>
          <p:nvPr/>
        </p:nvCxnSpPr>
        <p:spPr>
          <a:xfrm>
            <a:off x="9075000" y="1660000"/>
            <a:ext cx="0" cy="92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>
            <a:stCxn id="46" idx="2"/>
            <a:endCxn id="48" idx="0"/>
          </p:cNvCxnSpPr>
          <p:nvPr/>
        </p:nvCxnSpPr>
        <p:spPr>
          <a:xfrm>
            <a:off x="9075000" y="3202000"/>
            <a:ext cx="0" cy="109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>
            <a:stCxn id="46" idx="2"/>
            <a:endCxn id="50" idx="0"/>
          </p:cNvCxnSpPr>
          <p:nvPr/>
        </p:nvCxnSpPr>
        <p:spPr>
          <a:xfrm>
            <a:off x="9075000" y="3202000"/>
            <a:ext cx="0" cy="347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>
            <a:stCxn id="48" idx="2"/>
            <a:endCxn id="52" idx="0"/>
          </p:cNvCxnSpPr>
          <p:nvPr/>
        </p:nvCxnSpPr>
        <p:spPr>
          <a:xfrm>
            <a:off x="9075000" y="4912000"/>
            <a:ext cx="0" cy="380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>
            <a:stCxn id="50" idx="2"/>
            <a:endCxn id="54" idx="0"/>
          </p:cNvCxnSpPr>
          <p:nvPr/>
        </p:nvCxnSpPr>
        <p:spPr>
          <a:xfrm>
            <a:off x="9075000" y="7294000"/>
            <a:ext cx="0" cy="431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>
            <a:stCxn id="52" idx="2"/>
            <a:endCxn id="54" idx="0"/>
          </p:cNvCxnSpPr>
          <p:nvPr/>
        </p:nvCxnSpPr>
        <p:spPr>
          <a:xfrm>
            <a:off x="9075000" y="9340000"/>
            <a:ext cx="0" cy="226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>
            <a:stCxn id="52" idx="2"/>
            <a:endCxn id="56" idx="0"/>
          </p:cNvCxnSpPr>
          <p:nvPr/>
        </p:nvCxnSpPr>
        <p:spPr>
          <a:xfrm>
            <a:off x="9075000" y="9340000"/>
            <a:ext cx="0" cy="397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>
            <a:stCxn id="54" idx="0"/>
            <a:endCxn id="65" idx="2"/>
          </p:cNvCxnSpPr>
          <p:nvPr/>
        </p:nvCxnSpPr>
        <p:spPr>
          <a:xfrm flipV="1">
            <a:off x="9075000" y="4072000"/>
            <a:ext cx="2060000" cy="753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>
            <a:stCxn id="52" idx="0"/>
            <a:endCxn id="61" idx="2"/>
          </p:cNvCxnSpPr>
          <p:nvPr/>
        </p:nvCxnSpPr>
        <p:spPr>
          <a:xfrm flipV="1">
            <a:off x="9075000" y="1660000"/>
            <a:ext cx="2060000" cy="706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>
            <a:stCxn id="52" idx="0"/>
            <a:endCxn id="63" idx="2"/>
          </p:cNvCxnSpPr>
          <p:nvPr/>
        </p:nvCxnSpPr>
        <p:spPr>
          <a:xfrm flipV="1">
            <a:off x="9075000" y="2866000"/>
            <a:ext cx="2060000" cy="5854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>
            <a:stCxn id="61" idx="2"/>
            <a:endCxn id="69" idx="0"/>
          </p:cNvCxnSpPr>
          <p:nvPr/>
        </p:nvCxnSpPr>
        <p:spPr>
          <a:xfrm>
            <a:off x="11135000" y="1660000"/>
            <a:ext cx="0" cy="521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>
            <a:stCxn id="63" idx="2"/>
            <a:endCxn id="69" idx="0"/>
          </p:cNvCxnSpPr>
          <p:nvPr/>
        </p:nvCxnSpPr>
        <p:spPr>
          <a:xfrm>
            <a:off x="11135000" y="2866000"/>
            <a:ext cx="0" cy="400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>
            <a:stCxn id="65" idx="2"/>
            <a:endCxn id="69" idx="0"/>
          </p:cNvCxnSpPr>
          <p:nvPr/>
        </p:nvCxnSpPr>
        <p:spPr>
          <a:xfrm>
            <a:off x="11135000" y="4072000"/>
            <a:ext cx="0" cy="280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>
            <a:stCxn id="69" idx="2"/>
            <a:endCxn id="71" idx="0"/>
          </p:cNvCxnSpPr>
          <p:nvPr/>
        </p:nvCxnSpPr>
        <p:spPr>
          <a:xfrm>
            <a:off x="11135000" y="7492000"/>
            <a:ext cx="0" cy="922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>
            <a:stCxn id="67" idx="2"/>
            <a:endCxn id="69" idx="0"/>
          </p:cNvCxnSpPr>
          <p:nvPr/>
        </p:nvCxnSpPr>
        <p:spPr>
          <a:xfrm>
            <a:off x="11135000" y="5446000"/>
            <a:ext cx="0" cy="1426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>
            <a:stCxn id="75" idx="2"/>
            <a:endCxn id="14" idx="0"/>
          </p:cNvCxnSpPr>
          <p:nvPr/>
        </p:nvCxnSpPr>
        <p:spPr>
          <a:xfrm>
            <a:off x="900000" y="1600000"/>
            <a:ext cx="1995000" cy="1319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stCxn id="76" idx="3"/>
            <a:endCxn id="24" idx="1"/>
          </p:cNvCxnSpPr>
          <p:nvPr/>
        </p:nvCxnSpPr>
        <p:spPr>
          <a:xfrm>
            <a:off x="1700000" y="2266000"/>
            <a:ext cx="2300000" cy="1298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>
            <a:stCxn id="77" idx="3"/>
            <a:endCxn id="24" idx="1"/>
          </p:cNvCxnSpPr>
          <p:nvPr/>
        </p:nvCxnSpPr>
        <p:spPr>
          <a:xfrm>
            <a:off x="1700000" y="3242000"/>
            <a:ext cx="2300000" cy="322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>
            <a:stCxn id="78" idx="3"/>
            <a:endCxn id="22" idx="1"/>
          </p:cNvCxnSpPr>
          <p:nvPr/>
        </p:nvCxnSpPr>
        <p:spPr>
          <a:xfrm flipV="1">
            <a:off x="1700000" y="1350000"/>
            <a:ext cx="2300000" cy="2868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>
            <a:stCxn id="79" idx="3"/>
            <a:endCxn id="22" idx="1"/>
          </p:cNvCxnSpPr>
          <p:nvPr/>
        </p:nvCxnSpPr>
        <p:spPr>
          <a:xfrm flipV="1">
            <a:off x="1700000" y="1350000"/>
            <a:ext cx="2300000" cy="3844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>
            <a:stCxn id="80" idx="3"/>
            <a:endCxn id="38" idx="1"/>
          </p:cNvCxnSpPr>
          <p:nvPr/>
        </p:nvCxnSpPr>
        <p:spPr>
          <a:xfrm flipV="1">
            <a:off x="1700000" y="1350000"/>
            <a:ext cx="4360000" cy="48200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>
            <a:stCxn id="48" idx="2"/>
            <a:endCxn id="58" idx="0"/>
          </p:cNvCxnSpPr>
          <p:nvPr/>
        </p:nvCxnSpPr>
        <p:spPr>
          <a:xfrm>
            <a:off x="9075000" y="4912000"/>
            <a:ext cx="0" cy="1061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>
            <a:stCxn id="69" idx="2"/>
            <a:endCxn id="73" idx="0"/>
          </p:cNvCxnSpPr>
          <p:nvPr/>
        </p:nvCxnSpPr>
        <p:spPr>
          <a:xfrm>
            <a:off x="11135000" y="7492000"/>
            <a:ext cx="0" cy="2800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>
            <a:stCxn id="71" idx="2"/>
            <a:endCxn id="74" idx="0"/>
          </p:cNvCxnSpPr>
          <p:nvPr/>
        </p:nvCxnSpPr>
        <p:spPr>
          <a:xfrm>
            <a:off x="11135000" y="9034000"/>
            <a:ext cx="0" cy="20280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