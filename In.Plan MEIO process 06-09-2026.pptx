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4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443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5150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630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7028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4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176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325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0" y="397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Ошибка прогноза по горизонту из DP</a:t>
            </a:r>
          </a:p>
          <a:p>
            <a:r>
              <a:rPr sz="900" b="0"/>
              <a:t>Собственная история прогноза и факта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0" y="513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спроса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0" y="585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Новинки без истории</a:t>
            </a:r>
          </a:p>
          <a:p>
            <a:r>
              <a:rPr sz="900" b="0"/>
              <a:t>Позиции со сменой режима поставки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000" y="684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0" y="756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000" y="82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поставок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0" y="893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поставок</a:t>
            </a:r>
          </a:p>
          <a:p>
            <a:r>
              <a:rPr sz="900" b="0"/>
              <a:t>Новые поставщики и маршруты без истории</a:t>
            </a:r>
          </a:p>
          <a:p>
            <a:r>
              <a:rPr sz="900" b="0"/>
              <a:t>Согласованные изменения условий поставки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000" y="99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000" y="106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00000" y="1146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производства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000" y="12188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производства</a:t>
            </a:r>
          </a:p>
          <a:p>
            <a:r>
              <a:rPr sz="900" b="0"/>
              <a:t>Плановые остановки и ремонты</a:t>
            </a:r>
          </a:p>
          <a:p>
            <a:r>
              <a:rPr sz="900" b="0"/>
              <a:t>Изменения схемы разделки и глубины переработки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0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Сегментация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6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6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0000" y="3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Lifecycle: стадия жизненного цикла</a:t>
            </a:r>
          </a:p>
          <a:p>
            <a:r>
              <a:rPr sz="900" b="0"/>
              <a:t>ADI-CV: характер спроса</a:t>
            </a:r>
          </a:p>
          <a:p>
            <a:r>
              <a:rPr sz="900" b="0"/>
              <a:t>ABC: вклад в оборот</a:t>
            </a:r>
          </a:p>
          <a:p>
            <a:r>
              <a:rPr sz="900" b="0"/>
              <a:t>FMR: частота обращения</a:t>
            </a:r>
          </a:p>
          <a:p>
            <a:r>
              <a:rPr sz="900" b="0"/>
              <a:t>XYZ: стабильность потребления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0000" y="330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0000" y="429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0000" y="5012000"/>
            <a:ext cx="191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0000" y="667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0000" y="739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20000" y="872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0000" y="9440000"/>
            <a:ext cx="1910000" cy="2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0000" y="1160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0000" y="1232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0000" y="133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0000" y="14036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0000" y="15530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2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80000" y="1760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80000" y="224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0000" y="2966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80000" y="345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0000" y="417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80000" y="48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OTIF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0000" y="5546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Заказы клиентов: даты и количества</a:t>
            </a:r>
          </a:p>
          <a:p>
            <a:r>
              <a:rPr sz="900" b="0"/>
              <a:t>Фактические отгрузки: даты и количества</a:t>
            </a:r>
          </a:p>
          <a:p>
            <a:r>
              <a:rPr sz="900" b="0"/>
              <a:t>Целевой OTIF по каналам и сетям</a:t>
            </a:r>
          </a:p>
          <a:p>
            <a:r>
              <a:rPr sz="900" b="0"/>
              <a:t>Опубликованные нормативы прошлого цикла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80000" y="687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80000" y="759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80000" y="8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Передача нормативов по запасам в SNP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80000" y="9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Утверждённые уровни запасов по эшелонам</a:t>
            </a:r>
          </a:p>
          <a:p>
            <a:r>
              <a:rPr sz="900" b="0"/>
              <a:t>Точка заказа и рекомендованный уровень сервиса</a:t>
            </a:r>
          </a:p>
          <a:p>
            <a:r>
              <a:rPr sz="900" b="0"/>
              <a:t>Горизонт и дата вступления в силу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80000" y="1029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80000" y="1106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Нормативы запасов в SNP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000" y="1956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0000" y="2932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000" y="3908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000" y="4884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Мастер-данные номенклатуры из ERP</a:t>
            </a:r>
          </a:p>
        </p:txBody>
      </p:sp>
      <p:cxnSp>
        <p:nvCxnSpPr>
          <p:cNvPr id="71" name="Connector 70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2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6" idx="2"/>
            <a:endCxn id="8" idx="0"/>
          </p:cNvCxnSpPr>
          <p:nvPr/>
        </p:nvCxnSpPr>
        <p:spPr>
          <a:xfrm>
            <a:off x="2895000" y="5050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8" idx="0"/>
            <a:endCxn id="12" idx="2"/>
          </p:cNvCxnSpPr>
          <p:nvPr/>
        </p:nvCxnSpPr>
        <p:spPr>
          <a:xfrm flipV="1">
            <a:off x="2895000" y="1660000"/>
            <a:ext cx="2060000" cy="464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12" idx="2"/>
            <a:endCxn id="14" idx="0"/>
          </p:cNvCxnSpPr>
          <p:nvPr/>
        </p:nvCxnSpPr>
        <p:spPr>
          <a:xfrm>
            <a:off x="49550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12" idx="2"/>
            <a:endCxn id="18" idx="0"/>
          </p:cNvCxnSpPr>
          <p:nvPr/>
        </p:nvCxnSpPr>
        <p:spPr>
          <a:xfrm>
            <a:off x="4955000" y="1660000"/>
            <a:ext cx="0" cy="518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12" idx="2"/>
            <a:endCxn id="22" idx="0"/>
          </p:cNvCxnSpPr>
          <p:nvPr/>
        </p:nvCxnSpPr>
        <p:spPr>
          <a:xfrm>
            <a:off x="4955000" y="1660000"/>
            <a:ext cx="0" cy="8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14" idx="2"/>
            <a:endCxn id="16" idx="0"/>
          </p:cNvCxnSpPr>
          <p:nvPr/>
        </p:nvCxnSpPr>
        <p:spPr>
          <a:xfrm>
            <a:off x="4955000" y="3874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18" idx="2"/>
            <a:endCxn id="20" idx="0"/>
          </p:cNvCxnSpPr>
          <p:nvPr/>
        </p:nvCxnSpPr>
        <p:spPr>
          <a:xfrm>
            <a:off x="4955000" y="746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>
            <a:stCxn id="22" idx="2"/>
            <a:endCxn id="24" idx="0"/>
          </p:cNvCxnSpPr>
          <p:nvPr/>
        </p:nvCxnSpPr>
        <p:spPr>
          <a:xfrm>
            <a:off x="4955000" y="105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>
            <a:stCxn id="16" idx="0"/>
            <a:endCxn id="28" idx="2"/>
          </p:cNvCxnSpPr>
          <p:nvPr/>
        </p:nvCxnSpPr>
        <p:spPr>
          <a:xfrm flipV="1">
            <a:off x="4955000" y="1660000"/>
            <a:ext cx="206000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>
            <a:stCxn id="28" idx="2"/>
            <a:endCxn id="30" idx="0"/>
          </p:cNvCxnSpPr>
          <p:nvPr/>
        </p:nvCxnSpPr>
        <p:spPr>
          <a:xfrm>
            <a:off x="701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30" idx="3"/>
            <a:endCxn id="34" idx="1"/>
          </p:cNvCxnSpPr>
          <p:nvPr/>
        </p:nvCxnSpPr>
        <p:spPr>
          <a:xfrm flipV="1">
            <a:off x="7970000" y="1350000"/>
            <a:ext cx="150000" cy="13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34" idx="2"/>
            <a:endCxn id="36" idx="0"/>
          </p:cNvCxnSpPr>
          <p:nvPr/>
        </p:nvCxnSpPr>
        <p:spPr>
          <a:xfrm>
            <a:off x="907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36" idx="2"/>
            <a:endCxn id="38" idx="0"/>
          </p:cNvCxnSpPr>
          <p:nvPr/>
        </p:nvCxnSpPr>
        <p:spPr>
          <a:xfrm>
            <a:off x="9075000" y="3202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36" idx="2"/>
            <a:endCxn id="40" idx="0"/>
          </p:cNvCxnSpPr>
          <p:nvPr/>
        </p:nvCxnSpPr>
        <p:spPr>
          <a:xfrm>
            <a:off x="9075000" y="3202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38" idx="2"/>
            <a:endCxn id="42" idx="0"/>
          </p:cNvCxnSpPr>
          <p:nvPr/>
        </p:nvCxnSpPr>
        <p:spPr>
          <a:xfrm>
            <a:off x="9075000" y="4912000"/>
            <a:ext cx="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40" idx="2"/>
            <a:endCxn id="44" idx="0"/>
          </p:cNvCxnSpPr>
          <p:nvPr/>
        </p:nvCxnSpPr>
        <p:spPr>
          <a:xfrm>
            <a:off x="9075000" y="7294000"/>
            <a:ext cx="0" cy="43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42" idx="2"/>
            <a:endCxn id="44" idx="0"/>
          </p:cNvCxnSpPr>
          <p:nvPr/>
        </p:nvCxnSpPr>
        <p:spPr>
          <a:xfrm>
            <a:off x="9075000" y="9340000"/>
            <a:ext cx="0" cy="2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42" idx="2"/>
            <a:endCxn id="46" idx="0"/>
          </p:cNvCxnSpPr>
          <p:nvPr/>
        </p:nvCxnSpPr>
        <p:spPr>
          <a:xfrm>
            <a:off x="9075000" y="9340000"/>
            <a:ext cx="0" cy="397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44" idx="0"/>
            <a:endCxn id="55" idx="2"/>
          </p:cNvCxnSpPr>
          <p:nvPr/>
        </p:nvCxnSpPr>
        <p:spPr>
          <a:xfrm flipV="1">
            <a:off x="9075000" y="4072000"/>
            <a:ext cx="2060000" cy="75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>
            <a:stCxn id="42" idx="0"/>
            <a:endCxn id="51" idx="2"/>
          </p:cNvCxnSpPr>
          <p:nvPr/>
        </p:nvCxnSpPr>
        <p:spPr>
          <a:xfrm flipV="1">
            <a:off x="9075000" y="1660000"/>
            <a:ext cx="2060000" cy="70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>
            <a:stCxn id="42" idx="0"/>
            <a:endCxn id="53" idx="2"/>
          </p:cNvCxnSpPr>
          <p:nvPr/>
        </p:nvCxnSpPr>
        <p:spPr>
          <a:xfrm flipV="1">
            <a:off x="9075000" y="2866000"/>
            <a:ext cx="2060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>
            <a:stCxn id="51" idx="2"/>
            <a:endCxn id="59" idx="0"/>
          </p:cNvCxnSpPr>
          <p:nvPr/>
        </p:nvCxnSpPr>
        <p:spPr>
          <a:xfrm>
            <a:off x="11135000" y="1660000"/>
            <a:ext cx="0" cy="52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>
            <a:stCxn id="53" idx="2"/>
            <a:endCxn id="59" idx="0"/>
          </p:cNvCxnSpPr>
          <p:nvPr/>
        </p:nvCxnSpPr>
        <p:spPr>
          <a:xfrm>
            <a:off x="11135000" y="2866000"/>
            <a:ext cx="0" cy="400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>
            <a:stCxn id="55" idx="2"/>
            <a:endCxn id="59" idx="0"/>
          </p:cNvCxnSpPr>
          <p:nvPr/>
        </p:nvCxnSpPr>
        <p:spPr>
          <a:xfrm>
            <a:off x="11135000" y="4072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>
            <a:stCxn id="59" idx="2"/>
            <a:endCxn id="61" idx="0"/>
          </p:cNvCxnSpPr>
          <p:nvPr/>
        </p:nvCxnSpPr>
        <p:spPr>
          <a:xfrm>
            <a:off x="11135000" y="7492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>
            <a:stCxn id="57" idx="2"/>
            <a:endCxn id="59" idx="0"/>
          </p:cNvCxnSpPr>
          <p:nvPr/>
        </p:nvCxnSpPr>
        <p:spPr>
          <a:xfrm>
            <a:off x="11135000" y="5446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>
            <a:stCxn id="65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>
            <a:stCxn id="66" idx="3"/>
            <a:endCxn id="14" idx="1"/>
          </p:cNvCxnSpPr>
          <p:nvPr/>
        </p:nvCxnSpPr>
        <p:spPr>
          <a:xfrm>
            <a:off x="1700000" y="2266000"/>
            <a:ext cx="2300000" cy="129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>
            <a:stCxn id="67" idx="3"/>
            <a:endCxn id="14" idx="1"/>
          </p:cNvCxnSpPr>
          <p:nvPr/>
        </p:nvCxnSpPr>
        <p:spPr>
          <a:xfrm>
            <a:off x="1700000" y="3242000"/>
            <a:ext cx="2300000" cy="322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>
            <a:stCxn id="68" idx="3"/>
            <a:endCxn id="12" idx="1"/>
          </p:cNvCxnSpPr>
          <p:nvPr/>
        </p:nvCxnSpPr>
        <p:spPr>
          <a:xfrm flipV="1">
            <a:off x="1700000" y="1350000"/>
            <a:ext cx="2300000" cy="286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>
            <a:stCxn id="69" idx="3"/>
            <a:endCxn id="12" idx="1"/>
          </p:cNvCxnSpPr>
          <p:nvPr/>
        </p:nvCxnSpPr>
        <p:spPr>
          <a:xfrm flipV="1">
            <a:off x="1700000" y="1350000"/>
            <a:ext cx="2300000" cy="384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>
            <a:stCxn id="70" idx="3"/>
            <a:endCxn id="28" idx="1"/>
          </p:cNvCxnSpPr>
          <p:nvPr/>
        </p:nvCxnSpPr>
        <p:spPr>
          <a:xfrm flipV="1">
            <a:off x="1700000" y="1350000"/>
            <a:ext cx="4360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>
            <a:stCxn id="38" idx="2"/>
            <a:endCxn id="48" idx="0"/>
          </p:cNvCxnSpPr>
          <p:nvPr/>
        </p:nvCxnSpPr>
        <p:spPr>
          <a:xfrm>
            <a:off x="9075000" y="4912000"/>
            <a:ext cx="0" cy="1061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>
            <a:stCxn id="59" idx="2"/>
            <a:endCxn id="63" idx="0"/>
          </p:cNvCxnSpPr>
          <p:nvPr/>
        </p:nvCxnSpPr>
        <p:spPr>
          <a:xfrm>
            <a:off x="11135000" y="7492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>
            <a:stCxn id="61" idx="2"/>
            <a:endCxn id="64" idx="0"/>
          </p:cNvCxnSpPr>
          <p:nvPr/>
        </p:nvCxnSpPr>
        <p:spPr>
          <a:xfrm>
            <a:off x="11135000" y="9034000"/>
            <a:ext cx="0" cy="202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