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Получение данных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данных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2425000" cy="18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Структура текущих запасов по узлам и партиям</a:t>
            </a:r>
          </a:p>
          <a:p>
            <a:r>
              <a:rPr sz="900" b="0"/>
              <a:t>Фактические отгрузки за период</a:t>
            </a:r>
          </a:p>
          <a:p>
            <a:r>
              <a:rPr sz="900" b="0"/>
              <a:t>Остатки на руках, в заказе и в пути</a:t>
            </a:r>
          </a:p>
          <a:p>
            <a:r>
              <a:rPr sz="900" b="0"/>
              <a:t>Связки продукт-локация и эшелоны сети</a:t>
            </a:r>
          </a:p>
          <a:p>
            <a:r>
              <a:rPr sz="900" b="0"/>
              <a:t>Источники поставки, квоты и маршруты</a:t>
            </a:r>
          </a:p>
          <a:p>
            <a:r>
              <a:rPr sz="900" b="0"/>
              <a:t>Календари пополнения и производственные календари</a:t>
            </a:r>
          </a:p>
          <a:p>
            <a:r>
              <a:rPr sz="900" b="0"/>
              <a:t>Мощности хранения по температурным режимам</a:t>
            </a:r>
          </a:p>
          <a:p>
            <a:r>
              <a:rPr sz="900" b="0"/>
              <a:t>Незакрытый спрос и списания за период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0000" y="375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мастер-данных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40000" y="447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Полнота карточек товара и локаций</a:t>
            </a:r>
          </a:p>
          <a:p>
            <a:r>
              <a:rPr sz="900" b="0"/>
              <a:t>Единицы измерения и кратности</a:t>
            </a:r>
          </a:p>
          <a:p>
            <a:r>
              <a:rPr sz="900" b="0"/>
              <a:t>Дубли и неактуальные записи</a:t>
            </a:r>
          </a:p>
          <a:p>
            <a:r>
              <a:rPr sz="900" b="0"/>
              <a:t>Атрибуты сроков годности и температурных режимов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40000" y="5468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Проверка цепочки на связанность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40000" y="6188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У каждой связки продукт-локация есть источник поставки</a:t>
            </a:r>
          </a:p>
          <a:p>
            <a:r>
              <a:rPr sz="900" b="0"/>
              <a:t>Нет разрывов между эшелонами</a:t>
            </a:r>
          </a:p>
          <a:p>
            <a:r>
              <a:rPr sz="900" b="0"/>
              <a:t>Квоты и маршруты заданы для всех связей</a:t>
            </a:r>
          </a:p>
          <a:p>
            <a:r>
              <a:rPr sz="900" b="0"/>
              <a:t>Лидтаймы проставлены по всем дугам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5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к расчёту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1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Настройка параметров для расчёта уровней запасов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5000" y="1760000"/>
            <a:ext cx="2425000" cy="1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Плановые лидтаймы и отклонения</a:t>
            </a:r>
          </a:p>
          <a:p>
            <a:r>
              <a:rPr sz="900" b="0"/>
              <a:t>Квоты</a:t>
            </a:r>
          </a:p>
          <a:p>
            <a:r>
              <a:rPr sz="900" b="0"/>
              <a:t>База неопределённости: расчёт в модуле или ошибка прогноза из DP</a:t>
            </a:r>
          </a:p>
          <a:p>
            <a:r>
              <a:rPr sz="900" b="0"/>
              <a:t>Спрос и волатильность</a:t>
            </a:r>
          </a:p>
          <a:p>
            <a:r>
              <a:rPr sz="900" b="0"/>
              <a:t>Затраты на хранение</a:t>
            </a:r>
          </a:p>
          <a:p>
            <a:r>
              <a:rPr sz="900" b="0"/>
              <a:t>Минимальный размер партии и кратность</a:t>
            </a:r>
          </a:p>
          <a:p>
            <a:r>
              <a:rPr sz="900" b="0"/>
              <a:t>Срок годности и остаточный срок при приёмке</a:t>
            </a:r>
          </a:p>
          <a:p>
            <a:r>
              <a:rPr sz="900" b="0"/>
              <a:t>Политика FEFO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5000" y="359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5000" y="4310000"/>
            <a:ext cx="2425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Lifecycle</a:t>
            </a:r>
          </a:p>
          <a:p>
            <a:r>
              <a:rPr sz="900" b="0"/>
              <a:t>ADI-CV</a:t>
            </a:r>
          </a:p>
          <a:p>
            <a:r>
              <a:rPr sz="900" b="0"/>
              <a:t>ABC</a:t>
            </a:r>
          </a:p>
          <a:p>
            <a:r>
              <a:rPr sz="900" b="0"/>
              <a:t>FMR</a:t>
            </a:r>
          </a:p>
          <a:p>
            <a:r>
              <a:rPr sz="900" b="0"/>
              <a:t>XYZ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30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0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и анализ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90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Расчёт рекомендаций по уровням запасов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90000" y="1760000"/>
            <a:ext cx="2425000" cy="13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Параметры оптимизации</a:t>
            </a:r>
          </a:p>
          <a:p>
            <a:r>
              <a:rPr sz="900" b="0"/>
              <a:t>Ограничения</a:t>
            </a:r>
          </a:p>
          <a:p>
            <a:r>
              <a:rPr sz="900" b="0"/>
              <a:t>Страховой, целевой, циклический запас</a:t>
            </a:r>
          </a:p>
          <a:p>
            <a:r>
              <a:rPr sz="900" b="0"/>
              <a:t>Точка заказа</a:t>
            </a:r>
          </a:p>
          <a:p>
            <a:r>
              <a:rPr sz="900" b="0"/>
              <a:t>Рекомендованный уровень сервиса</a:t>
            </a:r>
          </a:p>
          <a:p>
            <a:r>
              <a:rPr sz="900" b="0"/>
              <a:t>Ограничение: покрытие ≤ остаточного срока годности</a:t>
            </a:r>
          </a:p>
          <a:p>
            <a:r>
              <a:rPr sz="900" b="0"/>
              <a:t>Стоимость списаний и уценки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0000" y="3254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Анализ полученных значений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90000" y="3974000"/>
            <a:ext cx="2425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Сценарное моделирование, 3 сценария</a:t>
            </a:r>
          </a:p>
          <a:p>
            <a:r>
              <a:rPr sz="900" b="0"/>
              <a:t>Изменение политик пополнения</a:t>
            </a:r>
          </a:p>
          <a:p>
            <a:r>
              <a:rPr sz="900" b="0"/>
              <a:t>Интерпретация и корректировка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90000" y="4628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Уровни запасов в SNP/PS и MRP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5000" y="980000"/>
            <a:ext cx="2545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5000" y="500000"/>
            <a:ext cx="2545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Оценка эффектов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65000" y="1040000"/>
            <a:ext cx="2425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Оценка эффектов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000" y="1760000"/>
            <a:ext cx="2425000" cy="3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Оценка эффектов и формирование рекомендаций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65000" y="2246000"/>
            <a:ext cx="2425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Оценка эффектов и рекомендации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Структура текущих запасов и фактические отгрузки из ERP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000" y="220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Спрос и волатильность из DP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000" y="342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Параметры цепочки из ERP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000" y="464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Сроки годности и требования сетей к остаточному сроку из ERP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000" y="586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Ошибка прогноза по горизонту из DP</a:t>
            </a:r>
          </a:p>
        </p:txBody>
      </p:sp>
      <p:cxnSp>
        <p:nvCxnSpPr>
          <p:cNvPr id="33" name="Connector 32"/>
          <p:cNvCxnSpPr>
            <a:stCxn id="4" idx="2"/>
            <a:endCxn id="6" idx="0"/>
          </p:cNvCxnSpPr>
          <p:nvPr/>
        </p:nvCxnSpPr>
        <p:spPr>
          <a:xfrm>
            <a:off x="3152500" y="1660000"/>
            <a:ext cx="0" cy="209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6" idx="2"/>
            <a:endCxn id="8" idx="0"/>
          </p:cNvCxnSpPr>
          <p:nvPr/>
        </p:nvCxnSpPr>
        <p:spPr>
          <a:xfrm>
            <a:off x="3152500" y="4378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8" idx="0"/>
            <a:endCxn id="12" idx="2"/>
          </p:cNvCxnSpPr>
          <p:nvPr/>
        </p:nvCxnSpPr>
        <p:spPr>
          <a:xfrm flipV="1">
            <a:off x="3152500" y="1660000"/>
            <a:ext cx="2575000" cy="380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2" idx="2"/>
            <a:endCxn id="14" idx="0"/>
          </p:cNvCxnSpPr>
          <p:nvPr/>
        </p:nvCxnSpPr>
        <p:spPr>
          <a:xfrm>
            <a:off x="5727500" y="1660000"/>
            <a:ext cx="0" cy="193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4" idx="3"/>
            <a:endCxn id="18" idx="1"/>
          </p:cNvCxnSpPr>
          <p:nvPr/>
        </p:nvCxnSpPr>
        <p:spPr>
          <a:xfrm flipV="1">
            <a:off x="6940000" y="1350000"/>
            <a:ext cx="150000" cy="255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18" idx="2"/>
            <a:endCxn id="20" idx="0"/>
          </p:cNvCxnSpPr>
          <p:nvPr/>
        </p:nvCxnSpPr>
        <p:spPr>
          <a:xfrm>
            <a:off x="8302500" y="1660000"/>
            <a:ext cx="0" cy="159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3"/>
            <a:endCxn id="25" idx="1"/>
          </p:cNvCxnSpPr>
          <p:nvPr/>
        </p:nvCxnSpPr>
        <p:spPr>
          <a:xfrm flipV="1">
            <a:off x="9515000" y="1350000"/>
            <a:ext cx="150000" cy="221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8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9" idx="3"/>
            <a:endCxn id="12" idx="1"/>
          </p:cNvCxnSpPr>
          <p:nvPr/>
        </p:nvCxnSpPr>
        <p:spPr>
          <a:xfrm flipV="1">
            <a:off x="1700000" y="1350000"/>
            <a:ext cx="2815000" cy="116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30" idx="3"/>
            <a:endCxn id="12" idx="1"/>
          </p:cNvCxnSpPr>
          <p:nvPr/>
        </p:nvCxnSpPr>
        <p:spPr>
          <a:xfrm flipV="1">
            <a:off x="1700000" y="1350000"/>
            <a:ext cx="2815000" cy="238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1" idx="3"/>
            <a:endCxn id="12" idx="1"/>
          </p:cNvCxnSpPr>
          <p:nvPr/>
        </p:nvCxnSpPr>
        <p:spPr>
          <a:xfrm flipV="1">
            <a:off x="1700000" y="1350000"/>
            <a:ext cx="2815000" cy="360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32" idx="3"/>
            <a:endCxn id="12" idx="1"/>
          </p:cNvCxnSpPr>
          <p:nvPr/>
        </p:nvCxnSpPr>
        <p:spPr>
          <a:xfrm flipV="1">
            <a:off x="1700000" y="1350000"/>
            <a:ext cx="2815000" cy="4820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18" idx="2"/>
            <a:endCxn id="22" idx="0"/>
          </p:cNvCxnSpPr>
          <p:nvPr/>
        </p:nvCxnSpPr>
        <p:spPr>
          <a:xfrm>
            <a:off x="8302500" y="1660000"/>
            <a:ext cx="0" cy="2968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25" idx="2"/>
            <a:endCxn id="27" idx="0"/>
          </p:cNvCxnSpPr>
          <p:nvPr/>
        </p:nvCxnSpPr>
        <p:spPr>
          <a:xfrm>
            <a:off x="10877500" y="1660000"/>
            <a:ext cx="0" cy="58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