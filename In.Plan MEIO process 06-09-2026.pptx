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1408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80000" y="980000"/>
            <a:ext cx="2030000" cy="130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8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Получение данных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4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Подготовка данных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40000" y="1760000"/>
            <a:ext cx="1910000" cy="2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Структура текущих запасов по узлам и партиям</a:t>
            </a:r>
          </a:p>
          <a:p>
            <a:r>
              <a:rPr sz="900" b="0"/>
              <a:t>Фактические отгрузки за период</a:t>
            </a:r>
          </a:p>
          <a:p>
            <a:r>
              <a:rPr sz="900" b="0"/>
              <a:t>Остатки на руках, в заказе и в пути</a:t>
            </a:r>
          </a:p>
          <a:p>
            <a:r>
              <a:rPr sz="900" b="0"/>
              <a:t>Связки продукт-локация и эшелоны сети</a:t>
            </a:r>
          </a:p>
          <a:p>
            <a:r>
              <a:rPr sz="900" b="0"/>
              <a:t>Источники поставки, квоты и маршруты</a:t>
            </a:r>
          </a:p>
          <a:p>
            <a:r>
              <a:rPr sz="900" b="0"/>
              <a:t>Календари пополнения и производственные календари</a:t>
            </a:r>
          </a:p>
          <a:p>
            <a:r>
              <a:rPr sz="900" b="0"/>
              <a:t>Мощности хранения по температурным режимам</a:t>
            </a:r>
          </a:p>
          <a:p>
            <a:r>
              <a:rPr sz="900" b="0"/>
              <a:t>Незакрытый спрос и списания за период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40000" y="443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Проверка мастер-данных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40000" y="5150000"/>
            <a:ext cx="1910000" cy="10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Полнота карточек товара и локаций</a:t>
            </a:r>
          </a:p>
          <a:p>
            <a:r>
              <a:rPr sz="900" b="0"/>
              <a:t>Единицы измерения и кратности</a:t>
            </a:r>
          </a:p>
          <a:p>
            <a:r>
              <a:rPr sz="900" b="0"/>
              <a:t>Дубли и неактуальные записи</a:t>
            </a:r>
          </a:p>
          <a:p>
            <a:r>
              <a:rPr sz="900" b="0"/>
              <a:t>Атрибуты сроков годности и температурных режимов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40000" y="6308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Проверка цепочки на связанность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40000" y="7028000"/>
            <a:ext cx="1910000" cy="11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У каждой связки продукт-локация есть источник поставки</a:t>
            </a:r>
          </a:p>
          <a:p>
            <a:r>
              <a:rPr sz="900" b="0"/>
              <a:t>Нет разрывов между эшелонами</a:t>
            </a:r>
          </a:p>
          <a:p>
            <a:r>
              <a:rPr sz="900" b="0"/>
              <a:t>Квоты и маршруты заданы для всех связей</a:t>
            </a:r>
          </a:p>
          <a:p>
            <a:r>
              <a:rPr sz="900" b="0"/>
              <a:t>Лидтаймы проставлены по всем дугам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40000" y="980000"/>
            <a:ext cx="2030000" cy="130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4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Подготовка к расчёту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0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Настройка параметров расчёта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0000" y="1760000"/>
            <a:ext cx="1910000" cy="13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Плановые лидтаймы и отклонения</a:t>
            </a:r>
          </a:p>
          <a:p>
            <a:r>
              <a:rPr sz="900" b="0"/>
              <a:t>Квоты и приоритеты источников</a:t>
            </a:r>
          </a:p>
          <a:p>
            <a:r>
              <a:rPr sz="900" b="0"/>
              <a:t>Затраты на хранение</a:t>
            </a:r>
          </a:p>
          <a:p>
            <a:r>
              <a:rPr sz="900" b="0"/>
              <a:t>Минимальный размер партии и кратность</a:t>
            </a:r>
          </a:p>
          <a:p>
            <a:r>
              <a:rPr sz="900" b="0"/>
              <a:t>Срок годности и остаточный срок при приёмке</a:t>
            </a:r>
          </a:p>
          <a:p>
            <a:r>
              <a:rPr sz="900" b="0"/>
              <a:t>Политика FEFO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00000" y="3254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Расчёт волатильности спроса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0000" y="3974000"/>
            <a:ext cx="1910000" cy="10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История отгрузок за период</a:t>
            </a:r>
          </a:p>
          <a:p>
            <a:r>
              <a:rPr sz="900" b="0"/>
              <a:t>Незакрытый спрос и списания</a:t>
            </a:r>
          </a:p>
          <a:p>
            <a:r>
              <a:rPr sz="900" b="0"/>
              <a:t>Ошибка прогноза по горизонту из DP</a:t>
            </a:r>
          </a:p>
          <a:p>
            <a:r>
              <a:rPr sz="900" b="0"/>
              <a:t>Собственная история прогноза и факта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00000" y="5132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Корректировка CV спроса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00000" y="5852000"/>
            <a:ext cx="1910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CV спроса</a:t>
            </a:r>
          </a:p>
          <a:p>
            <a:r>
              <a:rPr sz="900" b="0"/>
              <a:t>Новинки без истории</a:t>
            </a:r>
          </a:p>
          <a:p>
            <a:r>
              <a:rPr sz="900" b="0"/>
              <a:t>Позиции со сменой режима поставки</a:t>
            </a:r>
          </a:p>
          <a:p>
            <a:r>
              <a:rPr sz="900" b="0"/>
              <a:t>Экспертная правка по сегментам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00000" y="6842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Расчёт CV длительности поставок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0000" y="7562000"/>
            <a:ext cx="1910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Плановые и фактические длительности поставок</a:t>
            </a:r>
          </a:p>
          <a:p>
            <a:r>
              <a:rPr sz="900" b="0"/>
              <a:t>Отклонения по дугам сети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00000" y="8216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Корректировка CV длительности поставок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00000" y="8936000"/>
            <a:ext cx="1910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CV длительности поставок</a:t>
            </a:r>
          </a:p>
          <a:p>
            <a:r>
              <a:rPr sz="900" b="0"/>
              <a:t>Новые поставщики и маршруты без истории</a:t>
            </a:r>
          </a:p>
          <a:p>
            <a:r>
              <a:rPr sz="900" b="0"/>
              <a:t>Согласованные изменения условий поставки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00000" y="9926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Расчёт CV длительности производства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0000" y="10646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Плановые и фактические длительности производства</a:t>
            </a:r>
          </a:p>
          <a:p>
            <a:r>
              <a:rPr sz="900" b="0"/>
              <a:t>Отклонения по производственным заказам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00000" y="11468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Корректировка CV длительности производства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00000" y="12188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CV длительности производства</a:t>
            </a:r>
          </a:p>
          <a:p>
            <a:r>
              <a:rPr sz="900" b="0"/>
              <a:t>Плановые остановки и ремонты</a:t>
            </a:r>
          </a:p>
          <a:p>
            <a:r>
              <a:rPr sz="900" b="0"/>
              <a:t>Изменения схемы разделки и глубины переработки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00000" y="980000"/>
            <a:ext cx="2030000" cy="130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0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Сегментация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6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ABC-классификация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60000" y="1760000"/>
            <a:ext cx="1910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Вклад в оборот</a:t>
            </a:r>
          </a:p>
          <a:p>
            <a:r>
              <a:rPr sz="900" b="0"/>
              <a:t>Вклад в объём</a:t>
            </a:r>
          </a:p>
          <a:p>
            <a:r>
              <a:rPr sz="900" b="0"/>
              <a:t>Пороги классов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60000" y="2414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Сегментация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60000" y="3134000"/>
            <a:ext cx="1910000" cy="10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Lifecycle: стадия жизненного цикла</a:t>
            </a:r>
          </a:p>
          <a:p>
            <a:r>
              <a:rPr sz="900" b="0"/>
              <a:t>ADI-CV: характер спроса</a:t>
            </a:r>
          </a:p>
          <a:p>
            <a:r>
              <a:rPr sz="900" b="0"/>
              <a:t>ABC: вклад в оборот</a:t>
            </a:r>
          </a:p>
          <a:p>
            <a:r>
              <a:rPr sz="900" b="0"/>
              <a:t>FMR: частота обращения</a:t>
            </a:r>
          </a:p>
          <a:p>
            <a:r>
              <a:rPr sz="900" b="0"/>
              <a:t>XYZ: стабильность потребления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60000" y="980000"/>
            <a:ext cx="2030000" cy="130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6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Расчёт и анализ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2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Определение стратегии MTS-MTO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0000" y="1760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Сегментация по пяти признакам</a:t>
            </a:r>
          </a:p>
          <a:p>
            <a:r>
              <a:rPr sz="900" b="0"/>
              <a:t>Длительность цикла против срока ожидания клиента</a:t>
            </a:r>
          </a:p>
          <a:p>
            <a:r>
              <a:rPr sz="900" b="0"/>
              <a:t>Срок годности позиции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20000" y="2582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Выбор политики пополнения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0000" y="3302000"/>
            <a:ext cx="1910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Стратегия MTS или MTO по позиции</a:t>
            </a:r>
          </a:p>
          <a:p>
            <a:r>
              <a:rPr sz="900" b="0"/>
              <a:t>Сегментация по пяти признакам</a:t>
            </a:r>
          </a:p>
          <a:p>
            <a:r>
              <a:rPr sz="900" b="0"/>
              <a:t>Календари пополнения</a:t>
            </a:r>
          </a:p>
          <a:p>
            <a:r>
              <a:rPr sz="900" b="0"/>
              <a:t>Минимальный размер партии и кратность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20000" y="4292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Мультиэшелонная оптимизация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20000" y="5012000"/>
            <a:ext cx="1910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Настроенные параметры расчёта</a:t>
            </a:r>
          </a:p>
          <a:p>
            <a:r>
              <a:rPr sz="900" b="0"/>
              <a:t>Скорректированный CV спроса</a:t>
            </a:r>
          </a:p>
          <a:p>
            <a:r>
              <a:rPr sz="900" b="0"/>
              <a:t>Скорректированный CV длительности поставок</a:t>
            </a:r>
          </a:p>
          <a:p>
            <a:r>
              <a:rPr sz="900" b="0"/>
              <a:t>Скорректированный CV длительности производства</a:t>
            </a:r>
          </a:p>
          <a:p>
            <a:r>
              <a:rPr sz="900" b="0"/>
              <a:t>Политика пополнения по позиции</a:t>
            </a:r>
          </a:p>
          <a:p>
            <a:r>
              <a:rPr sz="900" b="0"/>
              <a:t>Ограничения: мощности, бюджет, срок годности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20000" y="6674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Изолированная оптимизация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20000" y="7394000"/>
            <a:ext cx="1910000" cy="11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Настроенные параметры расчёта</a:t>
            </a:r>
          </a:p>
          <a:p>
            <a:r>
              <a:rPr sz="900" b="0"/>
              <a:t>Скорректированный CV спроса</a:t>
            </a:r>
          </a:p>
          <a:p>
            <a:r>
              <a:rPr sz="900" b="0"/>
              <a:t>Скорректированный CV длительности поставок</a:t>
            </a:r>
          </a:p>
          <a:p>
            <a:r>
              <a:rPr sz="900" b="0"/>
              <a:t>Скорректированный CV длительности производства</a:t>
            </a:r>
          </a:p>
          <a:p>
            <a:r>
              <a:rPr sz="900" b="0"/>
              <a:t>Политика пополнения по позиции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20000" y="872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Сценарное моделирование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20000" y="9440000"/>
            <a:ext cx="1910000" cy="2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База (as is): текущие политики и параметры</a:t>
            </a:r>
          </a:p>
          <a:p>
            <a:r>
              <a:rPr sz="900" b="0"/>
              <a:t>Пересчёт по фильтрам: склад, канал, категория, сегмент</a:t>
            </a:r>
          </a:p>
          <a:p>
            <a:r>
              <a:rPr sz="900" b="0"/>
              <a:t>Сервис 98% по федеральным сетям</a:t>
            </a:r>
          </a:p>
          <a:p>
            <a:r>
              <a:rPr sz="900" b="0"/>
              <a:t>Учащённое пополнение охлаждённой продукции</a:t>
            </a:r>
          </a:p>
          <a:p>
            <a:r>
              <a:rPr sz="900" b="0"/>
              <a:t>Сокращение лидтайма и его разброса</a:t>
            </a:r>
          </a:p>
          <a:p>
            <a:r>
              <a:rPr sz="900" b="0"/>
              <a:t>Ограничение по мощностям холода</a:t>
            </a:r>
          </a:p>
          <a:p>
            <a:r>
              <a:rPr sz="900" b="0"/>
              <a:t>Бюджет запаса −15%</a:t>
            </a:r>
          </a:p>
          <a:p>
            <a:r>
              <a:rPr sz="900" b="0"/>
              <a:t>Сезонный пик: май–сентябрь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20000" y="11606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Сравнение со страховыми запасами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20000" y="12326000"/>
            <a:ext cx="1910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Рекомендованные уровни запасов по эшелонам</a:t>
            </a:r>
          </a:p>
          <a:p>
            <a:r>
              <a:rPr sz="900" b="0"/>
              <a:t>Действующие страховые запасы</a:t>
            </a:r>
          </a:p>
          <a:p>
            <a:r>
              <a:rPr sz="900" b="0"/>
              <a:t>Уровни запасов по узлам без учёта сети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20000" y="13316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Анализ предупреждений расчёта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20000" y="14036000"/>
            <a:ext cx="1910000" cy="13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Предупреждение: покрытие превышает остаточный срок годности</a:t>
            </a:r>
          </a:p>
          <a:p>
            <a:r>
              <a:rPr sz="900" b="0"/>
              <a:t>Предупреждение: рекомендованный уровень ниже минимальной партии</a:t>
            </a:r>
          </a:p>
          <a:p>
            <a:r>
              <a:rPr sz="900" b="0"/>
              <a:t>Предупреждение: целевой запас не помещается в мощности хранения</a:t>
            </a:r>
          </a:p>
          <a:p>
            <a:r>
              <a:rPr sz="900" b="0"/>
              <a:t>Предупреждение: отклонение от целевого уровня сервиса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20000" y="15530000"/>
            <a:ext cx="191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Уровни запасов в SNP/PS и MRP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20000" y="980000"/>
            <a:ext cx="2030000" cy="130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12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Оценка эффектов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18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Отчёт по ошибке прогноза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80000" y="1760000"/>
            <a:ext cx="1910000" cy="3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Прогноз спроса из DP</a:t>
            </a:r>
          </a:p>
          <a:p>
            <a:r>
              <a:rPr sz="900" b="0"/>
              <a:t>Фактические отгрузки за период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180000" y="2246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Отчёт по сегментации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80000" y="2966000"/>
            <a:ext cx="1910000" cy="3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Сегментация по пяти признакам</a:t>
            </a:r>
          </a:p>
          <a:p>
            <a:r>
              <a:rPr sz="900" b="0"/>
              <a:t>Классы ABC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180000" y="3452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Отчёт по страховым запасам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80000" y="4172000"/>
            <a:ext cx="1910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Рекомендованные уровни запасов по эшелонам</a:t>
            </a:r>
          </a:p>
          <a:p>
            <a:r>
              <a:rPr sz="900" b="0"/>
              <a:t>Три сценария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180000" y="4826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Оценка эффектов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80000" y="5546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Ошибка прогноза по горизонту</a:t>
            </a:r>
          </a:p>
          <a:p>
            <a:r>
              <a:rPr sz="900" b="0"/>
              <a:t>Отчёт по сегментации</a:t>
            </a:r>
          </a:p>
          <a:p>
            <a:r>
              <a:rPr sz="900" b="0"/>
              <a:t>Отчёт по страховым запасам</a:t>
            </a:r>
          </a:p>
          <a:p>
            <a:r>
              <a:rPr sz="900" b="0"/>
              <a:t>Сравнение сценариев по эффектам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180000" y="6368000"/>
            <a:ext cx="191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Оценка эффектов и рекомендации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0000" y="98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Структура текущих запасов и фактические отгрузки из ERP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0000" y="1956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Спрос и волатильность из DP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0000" y="2932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Ошибка прогноза по горизонту из DP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0000" y="3908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Параметры цепочки из ERP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0000" y="4884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Сроки годности и требования сетей к остаточному сроку из ERP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000" y="586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Мастер-данные номенклатуры из ERP</a:t>
            </a:r>
          </a:p>
        </p:txBody>
      </p:sp>
      <p:cxnSp>
        <p:nvCxnSpPr>
          <p:cNvPr id="66" name="Connector 65"/>
          <p:cNvCxnSpPr>
            <a:stCxn id="4" idx="2"/>
            <a:endCxn id="6" idx="0"/>
          </p:cNvCxnSpPr>
          <p:nvPr/>
        </p:nvCxnSpPr>
        <p:spPr>
          <a:xfrm>
            <a:off x="2895000" y="1660000"/>
            <a:ext cx="0" cy="277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>
            <a:stCxn id="6" idx="2"/>
            <a:endCxn id="8" idx="0"/>
          </p:cNvCxnSpPr>
          <p:nvPr/>
        </p:nvCxnSpPr>
        <p:spPr>
          <a:xfrm>
            <a:off x="2895000" y="5050000"/>
            <a:ext cx="0" cy="125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>
            <a:stCxn id="8" idx="0"/>
            <a:endCxn id="12" idx="2"/>
          </p:cNvCxnSpPr>
          <p:nvPr/>
        </p:nvCxnSpPr>
        <p:spPr>
          <a:xfrm flipV="1">
            <a:off x="2895000" y="1660000"/>
            <a:ext cx="2060000" cy="464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>
            <a:stCxn id="12" idx="2"/>
            <a:endCxn id="14" idx="0"/>
          </p:cNvCxnSpPr>
          <p:nvPr/>
        </p:nvCxnSpPr>
        <p:spPr>
          <a:xfrm>
            <a:off x="4955000" y="1660000"/>
            <a:ext cx="0" cy="159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>
            <a:stCxn id="12" idx="2"/>
            <a:endCxn id="18" idx="0"/>
          </p:cNvCxnSpPr>
          <p:nvPr/>
        </p:nvCxnSpPr>
        <p:spPr>
          <a:xfrm>
            <a:off x="4955000" y="1660000"/>
            <a:ext cx="0" cy="518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>
            <a:stCxn id="12" idx="2"/>
            <a:endCxn id="22" idx="0"/>
          </p:cNvCxnSpPr>
          <p:nvPr/>
        </p:nvCxnSpPr>
        <p:spPr>
          <a:xfrm>
            <a:off x="4955000" y="1660000"/>
            <a:ext cx="0" cy="826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>
            <a:stCxn id="14" idx="2"/>
            <a:endCxn id="16" idx="0"/>
          </p:cNvCxnSpPr>
          <p:nvPr/>
        </p:nvCxnSpPr>
        <p:spPr>
          <a:xfrm>
            <a:off x="4955000" y="3874000"/>
            <a:ext cx="0" cy="125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>
            <a:stCxn id="18" idx="2"/>
            <a:endCxn id="20" idx="0"/>
          </p:cNvCxnSpPr>
          <p:nvPr/>
        </p:nvCxnSpPr>
        <p:spPr>
          <a:xfrm>
            <a:off x="4955000" y="7462000"/>
            <a:ext cx="0" cy="75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>
            <a:stCxn id="22" idx="2"/>
            <a:endCxn id="24" idx="0"/>
          </p:cNvCxnSpPr>
          <p:nvPr/>
        </p:nvCxnSpPr>
        <p:spPr>
          <a:xfrm>
            <a:off x="4955000" y="10546000"/>
            <a:ext cx="0" cy="92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>
            <a:stCxn id="16" idx="0"/>
            <a:endCxn id="28" idx="2"/>
          </p:cNvCxnSpPr>
          <p:nvPr/>
        </p:nvCxnSpPr>
        <p:spPr>
          <a:xfrm flipV="1">
            <a:off x="4955000" y="1660000"/>
            <a:ext cx="2060000" cy="347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>
            <a:stCxn id="28" idx="2"/>
            <a:endCxn id="30" idx="0"/>
          </p:cNvCxnSpPr>
          <p:nvPr/>
        </p:nvCxnSpPr>
        <p:spPr>
          <a:xfrm>
            <a:off x="7015000" y="1660000"/>
            <a:ext cx="0" cy="75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>
            <a:stCxn id="30" idx="3"/>
            <a:endCxn id="34" idx="1"/>
          </p:cNvCxnSpPr>
          <p:nvPr/>
        </p:nvCxnSpPr>
        <p:spPr>
          <a:xfrm flipV="1">
            <a:off x="7970000" y="1350000"/>
            <a:ext cx="150000" cy="137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>
            <a:stCxn id="34" idx="2"/>
            <a:endCxn id="36" idx="0"/>
          </p:cNvCxnSpPr>
          <p:nvPr/>
        </p:nvCxnSpPr>
        <p:spPr>
          <a:xfrm>
            <a:off x="9075000" y="1660000"/>
            <a:ext cx="0" cy="92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>
            <a:stCxn id="36" idx="2"/>
            <a:endCxn id="38" idx="0"/>
          </p:cNvCxnSpPr>
          <p:nvPr/>
        </p:nvCxnSpPr>
        <p:spPr>
          <a:xfrm>
            <a:off x="9075000" y="3202000"/>
            <a:ext cx="0" cy="109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>
            <a:stCxn id="36" idx="2"/>
            <a:endCxn id="40" idx="0"/>
          </p:cNvCxnSpPr>
          <p:nvPr/>
        </p:nvCxnSpPr>
        <p:spPr>
          <a:xfrm>
            <a:off x="9075000" y="3202000"/>
            <a:ext cx="0" cy="347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>
            <a:stCxn id="38" idx="2"/>
            <a:endCxn id="42" idx="0"/>
          </p:cNvCxnSpPr>
          <p:nvPr/>
        </p:nvCxnSpPr>
        <p:spPr>
          <a:xfrm>
            <a:off x="9075000" y="4912000"/>
            <a:ext cx="0" cy="380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>
            <a:stCxn id="40" idx="2"/>
            <a:endCxn id="44" idx="0"/>
          </p:cNvCxnSpPr>
          <p:nvPr/>
        </p:nvCxnSpPr>
        <p:spPr>
          <a:xfrm>
            <a:off x="9075000" y="7294000"/>
            <a:ext cx="0" cy="431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>
            <a:stCxn id="42" idx="2"/>
            <a:endCxn id="44" idx="0"/>
          </p:cNvCxnSpPr>
          <p:nvPr/>
        </p:nvCxnSpPr>
        <p:spPr>
          <a:xfrm>
            <a:off x="9075000" y="9340000"/>
            <a:ext cx="0" cy="226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>
            <a:stCxn id="42" idx="2"/>
            <a:endCxn id="46" idx="0"/>
          </p:cNvCxnSpPr>
          <p:nvPr/>
        </p:nvCxnSpPr>
        <p:spPr>
          <a:xfrm>
            <a:off x="9075000" y="9340000"/>
            <a:ext cx="0" cy="397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>
            <a:stCxn id="44" idx="0"/>
            <a:endCxn id="55" idx="2"/>
          </p:cNvCxnSpPr>
          <p:nvPr/>
        </p:nvCxnSpPr>
        <p:spPr>
          <a:xfrm flipV="1">
            <a:off x="9075000" y="4072000"/>
            <a:ext cx="2060000" cy="753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>
            <a:stCxn id="42" idx="0"/>
            <a:endCxn id="51" idx="2"/>
          </p:cNvCxnSpPr>
          <p:nvPr/>
        </p:nvCxnSpPr>
        <p:spPr>
          <a:xfrm flipV="1">
            <a:off x="9075000" y="1660000"/>
            <a:ext cx="2060000" cy="706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>
            <a:stCxn id="42" idx="0"/>
            <a:endCxn id="53" idx="2"/>
          </p:cNvCxnSpPr>
          <p:nvPr/>
        </p:nvCxnSpPr>
        <p:spPr>
          <a:xfrm flipV="1">
            <a:off x="9075000" y="2866000"/>
            <a:ext cx="2060000" cy="585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>
            <a:stCxn id="51" idx="2"/>
            <a:endCxn id="57" idx="0"/>
          </p:cNvCxnSpPr>
          <p:nvPr/>
        </p:nvCxnSpPr>
        <p:spPr>
          <a:xfrm>
            <a:off x="11135000" y="1660000"/>
            <a:ext cx="0" cy="316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>
            <a:stCxn id="53" idx="2"/>
            <a:endCxn id="57" idx="0"/>
          </p:cNvCxnSpPr>
          <p:nvPr/>
        </p:nvCxnSpPr>
        <p:spPr>
          <a:xfrm>
            <a:off x="11135000" y="2866000"/>
            <a:ext cx="0" cy="196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>
            <a:stCxn id="55" idx="2"/>
            <a:endCxn id="57" idx="0"/>
          </p:cNvCxnSpPr>
          <p:nvPr/>
        </p:nvCxnSpPr>
        <p:spPr>
          <a:xfrm>
            <a:off x="11135000" y="4072000"/>
            <a:ext cx="0" cy="75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>
            <a:stCxn id="60" idx="3"/>
            <a:endCxn id="4" idx="1"/>
          </p:cNvCxnSpPr>
          <p:nvPr/>
        </p:nvCxnSpPr>
        <p:spPr>
          <a:xfrm>
            <a:off x="1700000" y="1290000"/>
            <a:ext cx="240000" cy="6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>
            <a:stCxn id="61" idx="3"/>
            <a:endCxn id="14" idx="1"/>
          </p:cNvCxnSpPr>
          <p:nvPr/>
        </p:nvCxnSpPr>
        <p:spPr>
          <a:xfrm>
            <a:off x="1700000" y="2266000"/>
            <a:ext cx="2300000" cy="1298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>
            <a:stCxn id="62" idx="3"/>
            <a:endCxn id="14" idx="1"/>
          </p:cNvCxnSpPr>
          <p:nvPr/>
        </p:nvCxnSpPr>
        <p:spPr>
          <a:xfrm>
            <a:off x="1700000" y="3242000"/>
            <a:ext cx="2300000" cy="322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>
            <a:stCxn id="63" idx="3"/>
            <a:endCxn id="12" idx="1"/>
          </p:cNvCxnSpPr>
          <p:nvPr/>
        </p:nvCxnSpPr>
        <p:spPr>
          <a:xfrm flipV="1">
            <a:off x="1700000" y="1350000"/>
            <a:ext cx="2300000" cy="2868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>
            <a:stCxn id="64" idx="3"/>
            <a:endCxn id="12" idx="1"/>
          </p:cNvCxnSpPr>
          <p:nvPr/>
        </p:nvCxnSpPr>
        <p:spPr>
          <a:xfrm flipV="1">
            <a:off x="1700000" y="1350000"/>
            <a:ext cx="2300000" cy="3844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>
            <a:stCxn id="65" idx="3"/>
            <a:endCxn id="28" idx="1"/>
          </p:cNvCxnSpPr>
          <p:nvPr/>
        </p:nvCxnSpPr>
        <p:spPr>
          <a:xfrm flipV="1">
            <a:off x="1700000" y="1350000"/>
            <a:ext cx="4360000" cy="4820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>
            <a:stCxn id="38" idx="2"/>
            <a:endCxn id="48" idx="0"/>
          </p:cNvCxnSpPr>
          <p:nvPr/>
        </p:nvCxnSpPr>
        <p:spPr>
          <a:xfrm>
            <a:off x="9075000" y="4912000"/>
            <a:ext cx="0" cy="1061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>
            <a:stCxn id="57" idx="2"/>
            <a:endCxn id="59" idx="0"/>
          </p:cNvCxnSpPr>
          <p:nvPr/>
        </p:nvCxnSpPr>
        <p:spPr>
          <a:xfrm>
            <a:off x="11135000" y="5446000"/>
            <a:ext cx="0" cy="92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