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75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447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5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618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для расчёта уровней запасов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000" y="1760000"/>
            <a:ext cx="2425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</a:t>
            </a:r>
          </a:p>
          <a:p>
            <a:r>
              <a:rPr sz="900" b="0"/>
              <a:t>База неопределённости: расчёт в модуле или ошибка прогноза из DP</a:t>
            </a:r>
          </a:p>
          <a:p>
            <a:r>
              <a:rPr sz="900" b="0"/>
              <a:t>Спрос и волатильность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5000" y="359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5000" y="431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3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рекомендаций по уровням запасов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0000" y="1760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Параметры оптимизации</a:t>
            </a:r>
          </a:p>
          <a:p>
            <a:r>
              <a:rPr sz="900" b="0"/>
              <a:t>Ограничения</a:t>
            </a:r>
          </a:p>
          <a:p>
            <a:r>
              <a:rPr sz="900" b="0"/>
              <a:t>Страховой, целевой, циклический запас</a:t>
            </a:r>
          </a:p>
          <a:p>
            <a:r>
              <a:rPr sz="900" b="0"/>
              <a:t>Точка заказа</a:t>
            </a:r>
          </a:p>
          <a:p>
            <a:r>
              <a:rPr sz="900" b="0"/>
              <a:t>Рекомендованный уровень сервиса</a:t>
            </a:r>
          </a:p>
          <a:p>
            <a:r>
              <a:rPr sz="900" b="0"/>
              <a:t>Ограничение: покрытие ≤ остаточного срока годности</a:t>
            </a:r>
          </a:p>
          <a:p>
            <a:r>
              <a:rPr sz="900" b="0"/>
              <a:t>Стоимость списаний и уценки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0000" y="325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полученных значений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0000" y="3974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90000" y="5972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0000" y="6692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90000" y="818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Оценка эффектов и формирование рекомендаций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65000" y="224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cxnSp>
        <p:nvCxnSpPr>
          <p:cNvPr id="35" name="Connector 34"/>
          <p:cNvCxnSpPr>
            <a:stCxn id="4" idx="2"/>
            <a:endCxn id="6" idx="0"/>
          </p:cNvCxnSpPr>
          <p:nvPr/>
        </p:nvCxnSpPr>
        <p:spPr>
          <a:xfrm>
            <a:off x="3152500" y="1660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6" idx="2"/>
            <a:endCxn id="8" idx="0"/>
          </p:cNvCxnSpPr>
          <p:nvPr/>
        </p:nvCxnSpPr>
        <p:spPr>
          <a:xfrm>
            <a:off x="3152500" y="4378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0"/>
            <a:endCxn id="12" idx="2"/>
          </p:cNvCxnSpPr>
          <p:nvPr/>
        </p:nvCxnSpPr>
        <p:spPr>
          <a:xfrm flipV="1">
            <a:off x="3152500" y="1660000"/>
            <a:ext cx="257500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12" idx="2"/>
            <a:endCxn id="14" idx="0"/>
          </p:cNvCxnSpPr>
          <p:nvPr/>
        </p:nvCxnSpPr>
        <p:spPr>
          <a:xfrm>
            <a:off x="5727500" y="1660000"/>
            <a:ext cx="0" cy="193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4" idx="3"/>
            <a:endCxn id="18" idx="1"/>
          </p:cNvCxnSpPr>
          <p:nvPr/>
        </p:nvCxnSpPr>
        <p:spPr>
          <a:xfrm flipV="1">
            <a:off x="6940000" y="1350000"/>
            <a:ext cx="150000" cy="25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8" idx="2"/>
            <a:endCxn id="20" idx="0"/>
          </p:cNvCxnSpPr>
          <p:nvPr/>
        </p:nvCxnSpPr>
        <p:spPr>
          <a:xfrm>
            <a:off x="83025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7" idx="1"/>
          </p:cNvCxnSpPr>
          <p:nvPr/>
        </p:nvCxnSpPr>
        <p:spPr>
          <a:xfrm flipV="1">
            <a:off x="9515000" y="1350000"/>
            <a:ext cx="150000" cy="221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20" idx="2"/>
            <a:endCxn id="22" idx="0"/>
          </p:cNvCxnSpPr>
          <p:nvPr/>
        </p:nvCxnSpPr>
        <p:spPr>
          <a:xfrm>
            <a:off x="8302500" y="3874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0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31" idx="3"/>
            <a:endCxn id="12" idx="1"/>
          </p:cNvCxnSpPr>
          <p:nvPr/>
        </p:nvCxnSpPr>
        <p:spPr>
          <a:xfrm flipV="1">
            <a:off x="1700000" y="1350000"/>
            <a:ext cx="2815000" cy="116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32" idx="3"/>
            <a:endCxn id="12" idx="1"/>
          </p:cNvCxnSpPr>
          <p:nvPr/>
        </p:nvCxnSpPr>
        <p:spPr>
          <a:xfrm flipV="1">
            <a:off x="1700000" y="1350000"/>
            <a:ext cx="2815000" cy="238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33" idx="3"/>
            <a:endCxn id="12" idx="1"/>
          </p:cNvCxnSpPr>
          <p:nvPr/>
        </p:nvCxnSpPr>
        <p:spPr>
          <a:xfrm flipV="1">
            <a:off x="1700000" y="1350000"/>
            <a:ext cx="2815000" cy="360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34" idx="3"/>
            <a:endCxn id="12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18" idx="2"/>
            <a:endCxn id="24" idx="0"/>
          </p:cNvCxnSpPr>
          <p:nvPr/>
        </p:nvCxnSpPr>
        <p:spPr>
          <a:xfrm>
            <a:off x="8302500" y="1660000"/>
            <a:ext cx="0" cy="652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27" idx="2"/>
            <a:endCxn id="29" idx="0"/>
          </p:cNvCxnSpPr>
          <p:nvPr/>
        </p:nvCxnSpPr>
        <p:spPr>
          <a:xfrm>
            <a:off x="10877500" y="1660000"/>
            <a:ext cx="0" cy="58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