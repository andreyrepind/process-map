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80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80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Получение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40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Подготовка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0000" y="1760000"/>
            <a:ext cx="2425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Анализ структуры текущих запасов</a:t>
            </a:r>
          </a:p>
          <a:p>
            <a:r>
              <a:rPr sz="900" b="0"/>
              <a:t>Фактические отгрузки за период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4455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55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Подготовка к расчёту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5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Настройка параметров для расчёта уровней запасов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5000" y="1760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лидтаймы и отклонения</a:t>
            </a:r>
          </a:p>
          <a:p>
            <a:r>
              <a:rPr sz="900" b="0"/>
              <a:t>Квоты</a:t>
            </a:r>
          </a:p>
          <a:p>
            <a:r>
              <a:rPr sz="900" b="0"/>
              <a:t>Спрос и волатильность</a:t>
            </a:r>
          </a:p>
          <a:p>
            <a:r>
              <a:rPr sz="900" b="0"/>
              <a:t>Затраты на хранение</a:t>
            </a:r>
          </a:p>
          <a:p>
            <a:r>
              <a:rPr sz="900" b="0"/>
              <a:t>Минимальный размер партии и кратность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5000" y="275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Сегментация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5000" y="3470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Lifecycle</a:t>
            </a:r>
          </a:p>
          <a:p>
            <a:r>
              <a:rPr sz="900" b="0"/>
              <a:t>ADI-CV</a:t>
            </a:r>
          </a:p>
          <a:p>
            <a:r>
              <a:rPr sz="900" b="0"/>
              <a:t>ABC</a:t>
            </a:r>
          </a:p>
          <a:p>
            <a:r>
              <a:rPr sz="900" b="0"/>
              <a:t>FMR</a:t>
            </a:r>
          </a:p>
          <a:p>
            <a:r>
              <a:rPr sz="900" b="0"/>
              <a:t>XYZ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30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30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Расчёт и анализ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90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рекомендаций по уровням запасов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90000" y="1760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Параметры оптимизации</a:t>
            </a:r>
          </a:p>
          <a:p>
            <a:r>
              <a:rPr sz="900" b="0"/>
              <a:t>Ограничения</a:t>
            </a:r>
          </a:p>
          <a:p>
            <a:r>
              <a:rPr sz="900" b="0"/>
              <a:t>Страховой, целевой, циклический запас</a:t>
            </a:r>
          </a:p>
          <a:p>
            <a:r>
              <a:rPr sz="900" b="0"/>
              <a:t>Точка заказа</a:t>
            </a:r>
          </a:p>
          <a:p>
            <a:r>
              <a:rPr sz="900" b="0"/>
              <a:t>Рекомендованный уровень сервиса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90000" y="275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Анализ полученных значений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90000" y="3470000"/>
            <a:ext cx="2425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Сценарное моделирование, 3 сценария</a:t>
            </a:r>
          </a:p>
          <a:p>
            <a:r>
              <a:rPr sz="900" b="0"/>
              <a:t>Изменение политик пополнения</a:t>
            </a:r>
          </a:p>
          <a:p>
            <a:r>
              <a:rPr sz="900" b="0"/>
              <a:t>Интерпретация и корректировка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90000" y="4124000"/>
            <a:ext cx="2425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Уровни запасов в SNP/PS и MRP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5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5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Оценка эффектов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65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Оценка эффектов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65000" y="1760000"/>
            <a:ext cx="2425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Оценка эффектов и формирование рекомендаций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65000" y="2246000"/>
            <a:ext cx="2425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Оценка эффектов и рекомендации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00" y="98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Структура текущих запасов и фактические отгрузки из ERP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000" y="342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Спрос и волатильность из DP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00" y="586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Параметры цепочки из ERP</a:t>
            </a:r>
          </a:p>
        </p:txBody>
      </p:sp>
      <p:cxnSp>
        <p:nvCxnSpPr>
          <p:cNvPr id="27" name="Connector 26"/>
          <p:cNvCxnSpPr>
            <a:stCxn id="4" idx="3"/>
            <a:endCxn id="8" idx="1"/>
          </p:cNvCxnSpPr>
          <p:nvPr/>
        </p:nvCxnSpPr>
        <p:spPr>
          <a:xfrm>
            <a:off x="4365000" y="1350000"/>
            <a:ext cx="15000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8" idx="2"/>
            <a:endCxn id="10" idx="0"/>
          </p:cNvCxnSpPr>
          <p:nvPr/>
        </p:nvCxnSpPr>
        <p:spPr>
          <a:xfrm>
            <a:off x="5727500" y="1660000"/>
            <a:ext cx="0" cy="109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3"/>
            <a:endCxn id="14" idx="1"/>
          </p:cNvCxnSpPr>
          <p:nvPr/>
        </p:nvCxnSpPr>
        <p:spPr>
          <a:xfrm flipV="1">
            <a:off x="6940000" y="1350000"/>
            <a:ext cx="150000" cy="171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4" idx="2"/>
            <a:endCxn id="16" idx="0"/>
          </p:cNvCxnSpPr>
          <p:nvPr/>
        </p:nvCxnSpPr>
        <p:spPr>
          <a:xfrm>
            <a:off x="8302500" y="1660000"/>
            <a:ext cx="0" cy="109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6" idx="3"/>
            <a:endCxn id="21" idx="1"/>
          </p:cNvCxnSpPr>
          <p:nvPr/>
        </p:nvCxnSpPr>
        <p:spPr>
          <a:xfrm flipV="1">
            <a:off x="9515000" y="1350000"/>
            <a:ext cx="150000" cy="171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24" idx="3"/>
            <a:endCxn id="4" idx="1"/>
          </p:cNvCxnSpPr>
          <p:nvPr/>
        </p:nvCxnSpPr>
        <p:spPr>
          <a:xfrm>
            <a:off x="1700000" y="1290000"/>
            <a:ext cx="240000" cy="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25" idx="3"/>
            <a:endCxn id="8" idx="1"/>
          </p:cNvCxnSpPr>
          <p:nvPr/>
        </p:nvCxnSpPr>
        <p:spPr>
          <a:xfrm flipV="1">
            <a:off x="1700000" y="1350000"/>
            <a:ext cx="2815000" cy="238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26" idx="3"/>
            <a:endCxn id="8" idx="1"/>
          </p:cNvCxnSpPr>
          <p:nvPr/>
        </p:nvCxnSpPr>
        <p:spPr>
          <a:xfrm flipV="1">
            <a:off x="1700000" y="1350000"/>
            <a:ext cx="2815000" cy="482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4" idx="2"/>
            <a:endCxn id="18" idx="0"/>
          </p:cNvCxnSpPr>
          <p:nvPr/>
        </p:nvCxnSpPr>
        <p:spPr>
          <a:xfrm>
            <a:off x="8302500" y="1660000"/>
            <a:ext cx="0" cy="246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21" idx="2"/>
            <a:endCxn id="23" idx="0"/>
          </p:cNvCxnSpPr>
          <p:nvPr/>
        </p:nvCxnSpPr>
        <p:spPr>
          <a:xfrm>
            <a:off x="10877500" y="1660000"/>
            <a:ext cx="0" cy="58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