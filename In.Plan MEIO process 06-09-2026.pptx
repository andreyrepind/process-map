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120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75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447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5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618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5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расчёта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5000" y="1760000"/>
            <a:ext cx="2425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 и приоритеты источников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5000" y="308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волатильности спроса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5000" y="380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История отгрузок за период</a:t>
            </a:r>
          </a:p>
          <a:p>
            <a:r>
              <a:rPr sz="900" b="0"/>
              <a:t>Незакрытый спрос и списания</a:t>
            </a:r>
          </a:p>
          <a:p>
            <a:r>
              <a:rPr sz="900" b="0"/>
              <a:t>База неопределённости: расчёт в модуле или ошибка прогноза из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5000" y="462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поставок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5000" y="5348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поставок</a:t>
            </a:r>
          </a:p>
          <a:p>
            <a:r>
              <a:rPr sz="900" b="0"/>
              <a:t>Отклонения по дугам сети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15000" y="600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производства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5000" y="6722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производства</a:t>
            </a:r>
          </a:p>
          <a:p>
            <a:r>
              <a:rPr sz="900" b="0"/>
              <a:t>Отклонения по производственным заказам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5000" y="737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5000" y="809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спроса</a:t>
            </a:r>
          </a:p>
          <a:p>
            <a:r>
              <a:rPr sz="900" b="0"/>
              <a:t>CV длительности поставок</a:t>
            </a:r>
          </a:p>
          <a:p>
            <a:r>
              <a:rPr sz="900" b="0"/>
              <a:t>CV длительности производства</a:t>
            </a:r>
          </a:p>
          <a:p>
            <a:r>
              <a:rPr sz="900" b="0"/>
              <a:t>Экспертная правка по сегментам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5000" y="891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ABC-классификация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5000" y="9638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Вклад в оборот</a:t>
            </a:r>
          </a:p>
          <a:p>
            <a:r>
              <a:rPr sz="900" b="0"/>
              <a:t>Вклад в объём</a:t>
            </a:r>
          </a:p>
          <a:p>
            <a:r>
              <a:rPr sz="900" b="0"/>
              <a:t>Пороги классов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15000" y="1029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5000" y="11012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0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Определение стратегии MTS-MTO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0000" y="1760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Длительность цикла против срока ожидания клиента</a:t>
            </a:r>
          </a:p>
          <a:p>
            <a:r>
              <a:rPr sz="900" b="0"/>
              <a:t>Срок годности позиции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90000" y="258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Выбор политики пополнения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90000" y="3302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Стратегия MTS или MTO по позиции</a:t>
            </a:r>
          </a:p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Календари пополнения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90000" y="412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Мультиэшелонная оптимизация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90000" y="4844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</a:t>
            </a:r>
          </a:p>
          <a:p>
            <a:r>
              <a:rPr sz="900" b="0"/>
              <a:t>Политика пополнения по позиции</a:t>
            </a:r>
          </a:p>
          <a:p>
            <a:r>
              <a:rPr sz="900" b="0"/>
              <a:t>Ограничения: мощности, бюджет, срок годности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90000" y="583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Изолированная оптимизация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0000" y="6554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</a:t>
            </a:r>
          </a:p>
          <a:p>
            <a:r>
              <a:rPr sz="900" b="0"/>
              <a:t>Политика пополнения по позиции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90000" y="720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Сценарное моделирование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0000" y="7928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90000" y="992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Сравнение со страховыми запасами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0000" y="1064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Действующие страховые запасы</a:t>
            </a:r>
          </a:p>
          <a:p>
            <a:r>
              <a:rPr sz="900" b="0"/>
              <a:t>Уровни запасов по узлам без учёта сети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90000" y="11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90000" y="12188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90000" y="13682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5000" y="980000"/>
            <a:ext cx="2545000" cy="1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ошибке прогноза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Прогноз спроса из DP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65000" y="224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сегментации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65000" y="2966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Классы 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665000" y="345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страховым запасам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65000" y="4172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Три сценария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65000" y="4826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65000" y="5546000"/>
            <a:ext cx="2425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Ошибка прогноза по горизонту</a:t>
            </a:r>
          </a:p>
          <a:p>
            <a:r>
              <a:rPr sz="900" b="0"/>
              <a:t>Отчёт по сегментации</a:t>
            </a:r>
          </a:p>
          <a:p>
            <a:r>
              <a:rPr sz="900" b="0"/>
              <a:t>Отчёт по страховым запасам</a:t>
            </a:r>
          </a:p>
          <a:p>
            <a:r>
              <a:rPr sz="900" b="0"/>
              <a:t>Сравнение сценариев по эффектам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65000" y="6368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000" y="220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000" y="464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cxnSp>
        <p:nvCxnSpPr>
          <p:cNvPr id="59" name="Connector 58"/>
          <p:cNvCxnSpPr>
            <a:stCxn id="4" idx="2"/>
            <a:endCxn id="6" idx="0"/>
          </p:cNvCxnSpPr>
          <p:nvPr/>
        </p:nvCxnSpPr>
        <p:spPr>
          <a:xfrm>
            <a:off x="3152500" y="1660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6" idx="2"/>
            <a:endCxn id="8" idx="0"/>
          </p:cNvCxnSpPr>
          <p:nvPr/>
        </p:nvCxnSpPr>
        <p:spPr>
          <a:xfrm>
            <a:off x="3152500" y="4378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8" idx="0"/>
            <a:endCxn id="12" idx="2"/>
          </p:cNvCxnSpPr>
          <p:nvPr/>
        </p:nvCxnSpPr>
        <p:spPr>
          <a:xfrm flipV="1">
            <a:off x="3152500" y="1660000"/>
            <a:ext cx="257500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stCxn id="12" idx="2"/>
            <a:endCxn id="14" idx="0"/>
          </p:cNvCxnSpPr>
          <p:nvPr/>
        </p:nvCxnSpPr>
        <p:spPr>
          <a:xfrm>
            <a:off x="5727500" y="1660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>
            <a:stCxn id="12" idx="2"/>
            <a:endCxn id="16" idx="0"/>
          </p:cNvCxnSpPr>
          <p:nvPr/>
        </p:nvCxnSpPr>
        <p:spPr>
          <a:xfrm>
            <a:off x="5727500" y="1660000"/>
            <a:ext cx="0" cy="296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stCxn id="12" idx="2"/>
            <a:endCxn id="18" idx="0"/>
          </p:cNvCxnSpPr>
          <p:nvPr/>
        </p:nvCxnSpPr>
        <p:spPr>
          <a:xfrm>
            <a:off x="5727500" y="1660000"/>
            <a:ext cx="0" cy="434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stCxn id="14" idx="2"/>
            <a:endCxn id="20" idx="0"/>
          </p:cNvCxnSpPr>
          <p:nvPr/>
        </p:nvCxnSpPr>
        <p:spPr>
          <a:xfrm>
            <a:off x="5727500" y="3706000"/>
            <a:ext cx="0" cy="36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stCxn id="16" idx="2"/>
            <a:endCxn id="20" idx="0"/>
          </p:cNvCxnSpPr>
          <p:nvPr/>
        </p:nvCxnSpPr>
        <p:spPr>
          <a:xfrm>
            <a:off x="5727500" y="5248000"/>
            <a:ext cx="0" cy="212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stCxn id="18" idx="2"/>
            <a:endCxn id="20" idx="0"/>
          </p:cNvCxnSpPr>
          <p:nvPr/>
        </p:nvCxnSpPr>
        <p:spPr>
          <a:xfrm>
            <a:off x="5727500" y="662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stCxn id="20" idx="2"/>
            <a:endCxn id="22" idx="0"/>
          </p:cNvCxnSpPr>
          <p:nvPr/>
        </p:nvCxnSpPr>
        <p:spPr>
          <a:xfrm>
            <a:off x="5727500" y="799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stCxn id="22" idx="2"/>
            <a:endCxn id="24" idx="0"/>
          </p:cNvCxnSpPr>
          <p:nvPr/>
        </p:nvCxnSpPr>
        <p:spPr>
          <a:xfrm>
            <a:off x="5727500" y="9538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stCxn id="24" idx="0"/>
            <a:endCxn id="28" idx="2"/>
          </p:cNvCxnSpPr>
          <p:nvPr/>
        </p:nvCxnSpPr>
        <p:spPr>
          <a:xfrm flipV="1">
            <a:off x="5727500" y="1660000"/>
            <a:ext cx="2575000" cy="863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28" idx="2"/>
            <a:endCxn id="30" idx="0"/>
          </p:cNvCxnSpPr>
          <p:nvPr/>
        </p:nvCxnSpPr>
        <p:spPr>
          <a:xfrm>
            <a:off x="83025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>
            <a:stCxn id="30" idx="2"/>
            <a:endCxn id="32" idx="0"/>
          </p:cNvCxnSpPr>
          <p:nvPr/>
        </p:nvCxnSpPr>
        <p:spPr>
          <a:xfrm>
            <a:off x="8302500" y="3202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>
            <a:stCxn id="30" idx="2"/>
            <a:endCxn id="34" idx="0"/>
          </p:cNvCxnSpPr>
          <p:nvPr/>
        </p:nvCxnSpPr>
        <p:spPr>
          <a:xfrm>
            <a:off x="8302500" y="3202000"/>
            <a:ext cx="0" cy="263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>
            <a:stCxn id="32" idx="2"/>
            <a:endCxn id="36" idx="0"/>
          </p:cNvCxnSpPr>
          <p:nvPr/>
        </p:nvCxnSpPr>
        <p:spPr>
          <a:xfrm>
            <a:off x="8302500" y="4744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>
            <a:stCxn id="34" idx="2"/>
            <a:endCxn id="38" idx="0"/>
          </p:cNvCxnSpPr>
          <p:nvPr/>
        </p:nvCxnSpPr>
        <p:spPr>
          <a:xfrm>
            <a:off x="8302500" y="6454000"/>
            <a:ext cx="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>
            <a:stCxn id="36" idx="2"/>
            <a:endCxn id="38" idx="0"/>
          </p:cNvCxnSpPr>
          <p:nvPr/>
        </p:nvCxnSpPr>
        <p:spPr>
          <a:xfrm>
            <a:off x="8302500" y="7828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>
            <a:stCxn id="36" idx="2"/>
            <a:endCxn id="40" idx="0"/>
          </p:cNvCxnSpPr>
          <p:nvPr/>
        </p:nvCxnSpPr>
        <p:spPr>
          <a:xfrm>
            <a:off x="8302500" y="7828000"/>
            <a:ext cx="0" cy="364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>
            <a:stCxn id="38" idx="0"/>
            <a:endCxn id="49" idx="2"/>
          </p:cNvCxnSpPr>
          <p:nvPr/>
        </p:nvCxnSpPr>
        <p:spPr>
          <a:xfrm flipV="1">
            <a:off x="8302500" y="4072000"/>
            <a:ext cx="2575000" cy="58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>
            <a:stCxn id="36" idx="0"/>
            <a:endCxn id="45" idx="2"/>
          </p:cNvCxnSpPr>
          <p:nvPr/>
        </p:nvCxnSpPr>
        <p:spPr>
          <a:xfrm flipV="1">
            <a:off x="8302500" y="1660000"/>
            <a:ext cx="2575000" cy="554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>
            <a:stCxn id="36" idx="0"/>
            <a:endCxn id="47" idx="2"/>
          </p:cNvCxnSpPr>
          <p:nvPr/>
        </p:nvCxnSpPr>
        <p:spPr>
          <a:xfrm flipV="1">
            <a:off x="8302500" y="2866000"/>
            <a:ext cx="2575000" cy="434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>
            <a:stCxn id="45" idx="2"/>
            <a:endCxn id="51" idx="0"/>
          </p:cNvCxnSpPr>
          <p:nvPr/>
        </p:nvCxnSpPr>
        <p:spPr>
          <a:xfrm>
            <a:off x="10877500" y="1660000"/>
            <a:ext cx="0" cy="31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>
            <a:stCxn id="47" idx="2"/>
            <a:endCxn id="51" idx="0"/>
          </p:cNvCxnSpPr>
          <p:nvPr/>
        </p:nvCxnSpPr>
        <p:spPr>
          <a:xfrm>
            <a:off x="10877500" y="2866000"/>
            <a:ext cx="0" cy="19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>
            <a:stCxn id="49" idx="2"/>
            <a:endCxn id="51" idx="0"/>
          </p:cNvCxnSpPr>
          <p:nvPr/>
        </p:nvCxnSpPr>
        <p:spPr>
          <a:xfrm>
            <a:off x="10877500" y="407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>
            <a:stCxn id="54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>
            <a:stCxn id="55" idx="3"/>
            <a:endCxn id="14" idx="1"/>
          </p:cNvCxnSpPr>
          <p:nvPr/>
        </p:nvCxnSpPr>
        <p:spPr>
          <a:xfrm>
            <a:off x="1700000" y="2510000"/>
            <a:ext cx="2815000" cy="886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>
            <a:stCxn id="56" idx="3"/>
            <a:endCxn id="14" idx="1"/>
          </p:cNvCxnSpPr>
          <p:nvPr/>
        </p:nvCxnSpPr>
        <p:spPr>
          <a:xfrm flipV="1">
            <a:off x="1700000" y="3396000"/>
            <a:ext cx="2815000" cy="33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>
            <a:stCxn id="57" idx="3"/>
            <a:endCxn id="12" idx="1"/>
          </p:cNvCxnSpPr>
          <p:nvPr/>
        </p:nvCxnSpPr>
        <p:spPr>
          <a:xfrm flipV="1">
            <a:off x="1700000" y="1350000"/>
            <a:ext cx="2815000" cy="360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>
            <a:stCxn id="58" idx="3"/>
            <a:endCxn id="12" idx="1"/>
          </p:cNvCxnSpPr>
          <p:nvPr/>
        </p:nvCxnSpPr>
        <p:spPr>
          <a:xfrm flipV="1">
            <a:off x="1700000" y="1350000"/>
            <a:ext cx="2815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>
            <a:stCxn id="32" idx="2"/>
            <a:endCxn id="42" idx="0"/>
          </p:cNvCxnSpPr>
          <p:nvPr/>
        </p:nvCxnSpPr>
        <p:spPr>
          <a:xfrm>
            <a:off x="8302500" y="4744000"/>
            <a:ext cx="0" cy="893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>
            <a:stCxn id="51" idx="2"/>
            <a:endCxn id="53" idx="0"/>
          </p:cNvCxnSpPr>
          <p:nvPr/>
        </p:nvCxnSpPr>
        <p:spPr>
          <a:xfrm>
            <a:off x="10877500" y="54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