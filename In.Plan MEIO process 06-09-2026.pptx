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2000" cy="1408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880000" y="980000"/>
            <a:ext cx="2030000" cy="130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80000" y="500000"/>
            <a:ext cx="203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/>
              <a:t>Получение данных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940000" y="1040000"/>
            <a:ext cx="1910000" cy="620000"/>
          </a:xfrm>
          <a:prstGeom prst="roundRect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/>
              <a:t>Подготовка данных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40000" y="1760000"/>
            <a:ext cx="1910000" cy="94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Продукт</a:t>
            </a:r>
          </a:p>
          <a:p>
            <a:r>
              <a:rPr sz="900" b="0"/>
              <a:t>Локация</a:t>
            </a:r>
          </a:p>
          <a:p>
            <a:r>
              <a:rPr sz="900" b="0"/>
              <a:t>Продукт-Локация</a:t>
            </a:r>
          </a:p>
          <a:p>
            <a:r>
              <a:rPr sz="900" b="0"/>
              <a:t>Групповой клиент, источники для гр. клиента</a:t>
            </a:r>
          </a:p>
          <a:p>
            <a:r>
              <a:rPr sz="900" b="0"/>
              <a:t>Транспортные отношения</a:t>
            </a:r>
          </a:p>
          <a:p>
            <a:r>
              <a:rPr sz="900" b="0"/>
              <a:t>Производственная спецификация</a:t>
            </a:r>
          </a:p>
          <a:p>
            <a:r>
              <a:rPr sz="900" b="0"/>
              <a:t>Компоненты производственной спецификации</a:t>
            </a:r>
          </a:p>
          <a:p>
            <a:r>
              <a:rPr sz="900" b="0"/>
              <a:t>Поставщик, источники поставщика</a:t>
            </a:r>
          </a:p>
          <a:p>
            <a:r>
              <a:rPr sz="900" b="0"/>
              <a:t>Валюта, курсы обмена</a:t>
            </a:r>
          </a:p>
          <a:p>
            <a:r>
              <a:rPr sz="900" b="0"/>
              <a:t>Единицы измерения, коэффициенты пересчёта</a:t>
            </a:r>
          </a:p>
          <a:p>
            <a:r>
              <a:rPr sz="900" b="0"/>
              <a:t>Целевой уровень сервиса</a:t>
            </a:r>
          </a:p>
          <a:p>
            <a:r>
              <a:rPr sz="900" b="0"/>
              <a:t>Тип уровня сервиса</a:t>
            </a:r>
          </a:p>
          <a:p>
            <a:r>
              <a:rPr sz="900" b="0"/>
              <a:t>История прогноза спроса и история расхода</a:t>
            </a:r>
          </a:p>
          <a:p>
            <a:r>
              <a:rPr sz="900" b="0"/>
              <a:t>Будущий прогноз спроса</a:t>
            </a:r>
          </a:p>
          <a:p>
            <a:r>
              <a:rPr sz="900" b="0"/>
              <a:t>СКО ошибки прогноза</a:t>
            </a:r>
          </a:p>
          <a:p>
            <a:r>
              <a:rPr sz="900" b="0"/>
              <a:t>Замороженный период спроса</a:t>
            </a:r>
          </a:p>
          <a:p>
            <a:r>
              <a:rPr sz="900" b="0"/>
              <a:t>Транспортный лидтайм</a:t>
            </a:r>
          </a:p>
          <a:p>
            <a:r>
              <a:rPr sz="900" b="0"/>
              <a:t>СКО транспортного лидтайма</a:t>
            </a:r>
          </a:p>
          <a:p>
            <a:r>
              <a:rPr sz="900" b="0"/>
              <a:t>Минимальный размер партии транспортировки</a:t>
            </a:r>
          </a:p>
          <a:p>
            <a:r>
              <a:rPr sz="900" b="0"/>
              <a:t>Округление партии транспортировки</a:t>
            </a:r>
          </a:p>
          <a:p>
            <a:r>
              <a:rPr sz="900" b="0"/>
              <a:t>Размер партии транспортировки в днях</a:t>
            </a:r>
          </a:p>
          <a:p>
            <a:r>
              <a:rPr sz="900" b="0"/>
              <a:t>Транспортные квоты</a:t>
            </a:r>
          </a:p>
          <a:p>
            <a:r>
              <a:rPr sz="900" b="0"/>
              <a:t>Замороженный период транспортировки</a:t>
            </a:r>
          </a:p>
          <a:p>
            <a:r>
              <a:rPr sz="900" b="0"/>
              <a:t>Производственный лидтайм</a:t>
            </a:r>
          </a:p>
          <a:p>
            <a:r>
              <a:rPr sz="900" b="0"/>
              <a:t>СКО производственного лидтайма</a:t>
            </a:r>
          </a:p>
          <a:p>
            <a:r>
              <a:rPr sz="900" b="0"/>
              <a:t>Минимальный размер партии выпуска</a:t>
            </a:r>
          </a:p>
          <a:p>
            <a:r>
              <a:rPr sz="900" b="0"/>
              <a:t>Округление партии выпуска</a:t>
            </a:r>
          </a:p>
          <a:p>
            <a:r>
              <a:rPr sz="900" b="0"/>
              <a:t>Размер партии выпуска в днях</a:t>
            </a:r>
          </a:p>
          <a:p>
            <a:r>
              <a:rPr sz="900" b="0"/>
              <a:t>Производственные квоты</a:t>
            </a:r>
          </a:p>
          <a:p>
            <a:r>
              <a:rPr sz="900" b="0"/>
              <a:t>Выходной коэффициент готового продукта</a:t>
            </a:r>
          </a:p>
          <a:p>
            <a:r>
              <a:rPr sz="900" b="0"/>
              <a:t>Коэффициент компонента</a:t>
            </a:r>
          </a:p>
          <a:p>
            <a:r>
              <a:rPr sz="900" b="0"/>
              <a:t>Цикл планирования (DBNR)</a:t>
            </a:r>
          </a:p>
          <a:p>
            <a:r>
              <a:rPr sz="900" b="0"/>
              <a:t>Тип узла (хранимый, не хранимый)</a:t>
            </a:r>
          </a:p>
          <a:p>
            <a:r>
              <a:rPr sz="900" b="0"/>
              <a:t>Политика страхового запаса (гибридные узлы)</a:t>
            </a:r>
          </a:p>
          <a:p>
            <a:r>
              <a:rPr sz="900" b="0"/>
              <a:t>Мин. / макс. внутренний уровень сервиса</a:t>
            </a:r>
          </a:p>
          <a:p>
            <a:r>
              <a:rPr sz="900" b="0"/>
              <a:t>Мин. / макс. страховой запас в днях или ЕИ</a:t>
            </a:r>
          </a:p>
          <a:p>
            <a:r>
              <a:rPr sz="900" b="0"/>
              <a:t>Минимально необходимый запас</a:t>
            </a:r>
          </a:p>
          <a:p>
            <a:r>
              <a:rPr sz="900" b="0"/>
              <a:t>Максимальный доступный запас (On-Hand)</a:t>
            </a:r>
          </a:p>
          <a:p>
            <a:r>
              <a:rPr sz="900" b="0"/>
              <a:t>Штраф за превышение максимального запаса</a:t>
            </a:r>
          </a:p>
          <a:p>
            <a:r>
              <a:rPr sz="900" b="0"/>
              <a:t>Удельные затраты на содержание запаса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940000" y="11318000"/>
            <a:ext cx="1910000" cy="620000"/>
          </a:xfrm>
          <a:prstGeom prst="roundRect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/>
              <a:t>Проверка мастер-данных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40000" y="12038000"/>
            <a:ext cx="1910000" cy="10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Полнота карточек товара и локаций</a:t>
            </a:r>
          </a:p>
          <a:p>
            <a:r>
              <a:rPr sz="900" b="0"/>
              <a:t>Единицы измерения и кратности</a:t>
            </a:r>
          </a:p>
          <a:p>
            <a:r>
              <a:rPr sz="900" b="0"/>
              <a:t>Дубли и неактуальные записи</a:t>
            </a:r>
          </a:p>
          <a:p>
            <a:r>
              <a:rPr sz="900" b="0"/>
              <a:t>Атрибуты сроков годности и температурных режимов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940000" y="13196000"/>
            <a:ext cx="1910000" cy="620000"/>
          </a:xfrm>
          <a:prstGeom prst="roundRect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/>
              <a:t>Проверка цепочки на связанность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40000" y="13916000"/>
            <a:ext cx="1910000" cy="11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У каждой связки продукт-локация есть источник поставки</a:t>
            </a:r>
          </a:p>
          <a:p>
            <a:r>
              <a:rPr sz="900" b="0"/>
              <a:t>Нет разрывов между эшелонами</a:t>
            </a:r>
          </a:p>
          <a:p>
            <a:r>
              <a:rPr sz="900" b="0"/>
              <a:t>Квоты и маршруты заданы для всех связей</a:t>
            </a:r>
          </a:p>
          <a:p>
            <a:r>
              <a:rPr sz="900" b="0"/>
              <a:t>Лидтаймы проставлены по всем дугам</a:t>
            </a:r>
          </a:p>
        </p:txBody>
      </p:sp>
      <p:sp>
        <p:nvSpPr>
          <p:cNvPr id="10" name="Rectangle 9"/>
          <p:cNvSpPr/>
          <p:nvPr/>
        </p:nvSpPr>
        <p:spPr>
          <a:xfrm>
            <a:off x="3940000" y="980000"/>
            <a:ext cx="2030000" cy="130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940000" y="500000"/>
            <a:ext cx="203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/>
              <a:t>Подготовка к расчёту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000000" y="1040000"/>
            <a:ext cx="1910000" cy="620000"/>
          </a:xfrm>
          <a:prstGeom prst="roundRect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/>
              <a:t>Настройка параметров расчёта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00000" y="1760000"/>
            <a:ext cx="1910000" cy="13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Плановые лидтаймы и отклонения</a:t>
            </a:r>
          </a:p>
          <a:p>
            <a:r>
              <a:rPr sz="900" b="0"/>
              <a:t>Квоты и приоритеты источников</a:t>
            </a:r>
          </a:p>
          <a:p>
            <a:r>
              <a:rPr sz="900" b="0"/>
              <a:t>Затраты на хранение</a:t>
            </a:r>
          </a:p>
          <a:p>
            <a:r>
              <a:rPr sz="900" b="0"/>
              <a:t>Минимальный размер партии и кратность</a:t>
            </a:r>
          </a:p>
          <a:p>
            <a:r>
              <a:rPr sz="900" b="0"/>
              <a:t>Срок годности и остаточный срок при приёмке</a:t>
            </a:r>
          </a:p>
          <a:p>
            <a:r>
              <a:rPr sz="900" b="0"/>
              <a:t>Политика FEFO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000000" y="3254000"/>
            <a:ext cx="1910000" cy="620000"/>
          </a:xfrm>
          <a:prstGeom prst="roundRect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/>
              <a:t>Расчёт волатильности спроса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00000" y="3974000"/>
            <a:ext cx="1910000" cy="10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История отгрузок за период</a:t>
            </a:r>
          </a:p>
          <a:p>
            <a:r>
              <a:rPr sz="900" b="0"/>
              <a:t>Незакрытый спрос и списания</a:t>
            </a:r>
          </a:p>
          <a:p>
            <a:r>
              <a:rPr sz="900" b="0"/>
              <a:t>Ошибка прогноза по горизонту из DP</a:t>
            </a:r>
          </a:p>
          <a:p>
            <a:r>
              <a:rPr sz="900" b="0"/>
              <a:t>Собственная история прогноза и факта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000000" y="5132000"/>
            <a:ext cx="1910000" cy="620000"/>
          </a:xfrm>
          <a:prstGeom prst="roundRect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/>
              <a:t>Корректировка CV спроса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00000" y="5852000"/>
            <a:ext cx="1910000" cy="8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CV спроса</a:t>
            </a:r>
          </a:p>
          <a:p>
            <a:r>
              <a:rPr sz="900" b="0"/>
              <a:t>Новинки без истории</a:t>
            </a:r>
          </a:p>
          <a:p>
            <a:r>
              <a:rPr sz="900" b="0"/>
              <a:t>Позиции со сменой режима поставки</a:t>
            </a:r>
          </a:p>
          <a:p>
            <a:r>
              <a:rPr sz="900" b="0"/>
              <a:t>Экспертная правка по сегментам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000000" y="6842000"/>
            <a:ext cx="1910000" cy="620000"/>
          </a:xfrm>
          <a:prstGeom prst="roundRect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/>
              <a:t>Расчёт CV длительности поставок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00000" y="7562000"/>
            <a:ext cx="1910000" cy="50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Плановые и фактические длительности поставок</a:t>
            </a:r>
          </a:p>
          <a:p>
            <a:r>
              <a:rPr sz="900" b="0"/>
              <a:t>Отклонения по дугам сети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000000" y="8216000"/>
            <a:ext cx="1910000" cy="620000"/>
          </a:xfrm>
          <a:prstGeom prst="roundRect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/>
              <a:t>Корректировка CV длительности поставок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000000" y="8936000"/>
            <a:ext cx="1910000" cy="8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CV длительности поставок</a:t>
            </a:r>
          </a:p>
          <a:p>
            <a:r>
              <a:rPr sz="900" b="0"/>
              <a:t>Новые поставщики и маршруты без истории</a:t>
            </a:r>
          </a:p>
          <a:p>
            <a:r>
              <a:rPr sz="900" b="0"/>
              <a:t>Согласованные изменения условий поставки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000000" y="9926000"/>
            <a:ext cx="1910000" cy="620000"/>
          </a:xfrm>
          <a:prstGeom prst="roundRect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/>
              <a:t>Расчёт CV длительности производства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000000" y="10646000"/>
            <a:ext cx="1910000" cy="6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Плановые и фактические длительности производства</a:t>
            </a:r>
          </a:p>
          <a:p>
            <a:r>
              <a:rPr sz="900" b="0"/>
              <a:t>Отклонения по производственным заказам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000000" y="11468000"/>
            <a:ext cx="1910000" cy="620000"/>
          </a:xfrm>
          <a:prstGeom prst="roundRect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/>
              <a:t>Корректировка CV длительности производства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000000" y="12188000"/>
            <a:ext cx="1910000" cy="6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CV длительности производства</a:t>
            </a:r>
          </a:p>
          <a:p>
            <a:r>
              <a:rPr sz="900" b="0"/>
              <a:t>Плановые остановки и ремонты</a:t>
            </a:r>
          </a:p>
          <a:p>
            <a:r>
              <a:rPr sz="900" b="0"/>
              <a:t>Изменения схемы разделки и глубины переработки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000000" y="980000"/>
            <a:ext cx="2030000" cy="130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00000" y="500000"/>
            <a:ext cx="203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/>
              <a:t>Сегментация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060000" y="1040000"/>
            <a:ext cx="1910000" cy="620000"/>
          </a:xfrm>
          <a:prstGeom prst="roundRect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/>
              <a:t>ABC-классификация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60000" y="1760000"/>
            <a:ext cx="1910000" cy="50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Вклад в оборот</a:t>
            </a:r>
          </a:p>
          <a:p>
            <a:r>
              <a:rPr sz="900" b="0"/>
              <a:t>Вклад в объём</a:t>
            </a:r>
          </a:p>
          <a:p>
            <a:r>
              <a:rPr sz="900" b="0"/>
              <a:t>Пороги классов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060000" y="2414000"/>
            <a:ext cx="1910000" cy="620000"/>
          </a:xfrm>
          <a:prstGeom prst="roundRect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/>
              <a:t>Сегментация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60000" y="3134000"/>
            <a:ext cx="1910000" cy="10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Lifecycle: стадия жизненного цикла</a:t>
            </a:r>
          </a:p>
          <a:p>
            <a:r>
              <a:rPr sz="900" b="0"/>
              <a:t>ADI-CV: характер спроса</a:t>
            </a:r>
          </a:p>
          <a:p>
            <a:r>
              <a:rPr sz="900" b="0"/>
              <a:t>ABC: вклад в оборот</a:t>
            </a:r>
          </a:p>
          <a:p>
            <a:r>
              <a:rPr sz="900" b="0"/>
              <a:t>FMR: частота обращения</a:t>
            </a:r>
          </a:p>
          <a:p>
            <a:r>
              <a:rPr sz="900" b="0"/>
              <a:t>XYZ: стабильность потребления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060000" y="980000"/>
            <a:ext cx="2030000" cy="130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060000" y="500000"/>
            <a:ext cx="203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/>
              <a:t>Расчёт и анализ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120000" y="1040000"/>
            <a:ext cx="1910000" cy="620000"/>
          </a:xfrm>
          <a:prstGeom prst="roundRect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/>
              <a:t>Определение стратегии MTS-MTO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20000" y="1760000"/>
            <a:ext cx="1910000" cy="6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Сегментация по пяти признакам</a:t>
            </a:r>
          </a:p>
          <a:p>
            <a:r>
              <a:rPr sz="900" b="0"/>
              <a:t>Длительность цикла против срока ожидания клиента</a:t>
            </a:r>
          </a:p>
          <a:p>
            <a:r>
              <a:rPr sz="900" b="0"/>
              <a:t>Срок годности позиции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120000" y="2582000"/>
            <a:ext cx="1910000" cy="620000"/>
          </a:xfrm>
          <a:prstGeom prst="roundRect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/>
              <a:t>Выбор политики пополнения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120000" y="3302000"/>
            <a:ext cx="1910000" cy="8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Стратегия MTS или MTO по позиции</a:t>
            </a:r>
          </a:p>
          <a:p>
            <a:r>
              <a:rPr sz="900" b="0"/>
              <a:t>Сегментация по пяти признакам</a:t>
            </a:r>
          </a:p>
          <a:p>
            <a:r>
              <a:rPr sz="900" b="0"/>
              <a:t>Календари пополнения</a:t>
            </a:r>
          </a:p>
          <a:p>
            <a:r>
              <a:rPr sz="900" b="0"/>
              <a:t>Минимальный размер партии и кратность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120000" y="4292000"/>
            <a:ext cx="1910000" cy="620000"/>
          </a:xfrm>
          <a:prstGeom prst="roundRect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/>
              <a:t>Мультиэшелонная оптимизация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120000" y="5012000"/>
            <a:ext cx="1910000" cy="151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Настроенные параметры расчёта</a:t>
            </a:r>
          </a:p>
          <a:p>
            <a:r>
              <a:rPr sz="900" b="0"/>
              <a:t>Скорректированный CV спроса</a:t>
            </a:r>
          </a:p>
          <a:p>
            <a:r>
              <a:rPr sz="900" b="0"/>
              <a:t>Скорректированный CV длительности поставок</a:t>
            </a:r>
          </a:p>
          <a:p>
            <a:r>
              <a:rPr sz="900" b="0"/>
              <a:t>Скорректированный CV длительности производства</a:t>
            </a:r>
          </a:p>
          <a:p>
            <a:r>
              <a:rPr sz="900" b="0"/>
              <a:t>Политика пополнения по позиции</a:t>
            </a:r>
          </a:p>
          <a:p>
            <a:r>
              <a:rPr sz="900" b="0"/>
              <a:t>Ограничения: мощности, бюджет, срок годности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120000" y="6674000"/>
            <a:ext cx="1910000" cy="620000"/>
          </a:xfrm>
          <a:prstGeom prst="roundRect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/>
              <a:t>Изолированная оптимизация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120000" y="7394000"/>
            <a:ext cx="1910000" cy="11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Настроенные параметры расчёта</a:t>
            </a:r>
          </a:p>
          <a:p>
            <a:r>
              <a:rPr sz="900" b="0"/>
              <a:t>Скорректированный CV спроса</a:t>
            </a:r>
          </a:p>
          <a:p>
            <a:r>
              <a:rPr sz="900" b="0"/>
              <a:t>Скорректированный CV длительности поставок</a:t>
            </a:r>
          </a:p>
          <a:p>
            <a:r>
              <a:rPr sz="900" b="0"/>
              <a:t>Скорректированный CV длительности производства</a:t>
            </a:r>
          </a:p>
          <a:p>
            <a:r>
              <a:rPr sz="900" b="0"/>
              <a:t>Политика пополнения по позиции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120000" y="8720000"/>
            <a:ext cx="1910000" cy="620000"/>
          </a:xfrm>
          <a:prstGeom prst="roundRect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/>
              <a:t>Сценарное моделирование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20000" y="9440000"/>
            <a:ext cx="1910000" cy="20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База (as is): текущие политики и параметры</a:t>
            </a:r>
          </a:p>
          <a:p>
            <a:r>
              <a:rPr sz="900" b="0"/>
              <a:t>Пересчёт по фильтрам: склад, канал, категория, сегмент</a:t>
            </a:r>
          </a:p>
          <a:p>
            <a:r>
              <a:rPr sz="900" b="0"/>
              <a:t>Сервис 98% по федеральным сетям</a:t>
            </a:r>
          </a:p>
          <a:p>
            <a:r>
              <a:rPr sz="900" b="0"/>
              <a:t>Учащённое пополнение охлаждённой продукции</a:t>
            </a:r>
          </a:p>
          <a:p>
            <a:r>
              <a:rPr sz="900" b="0"/>
              <a:t>Сокращение лидтайма и его разброса</a:t>
            </a:r>
          </a:p>
          <a:p>
            <a:r>
              <a:rPr sz="900" b="0"/>
              <a:t>Ограничение по мощностям холода</a:t>
            </a:r>
          </a:p>
          <a:p>
            <a:r>
              <a:rPr sz="900" b="0"/>
              <a:t>Бюджет запаса −15%</a:t>
            </a:r>
          </a:p>
          <a:p>
            <a:r>
              <a:rPr sz="900" b="0"/>
              <a:t>Сезонный пик: май–сентябрь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120000" y="11606000"/>
            <a:ext cx="1910000" cy="620000"/>
          </a:xfrm>
          <a:prstGeom prst="roundRect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/>
              <a:t>Сравнение со страховыми запасами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20000" y="12326000"/>
            <a:ext cx="1910000" cy="8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Рекомендованные уровни запасов по эшелонам</a:t>
            </a:r>
          </a:p>
          <a:p>
            <a:r>
              <a:rPr sz="900" b="0"/>
              <a:t>Действующие страховые запасы</a:t>
            </a:r>
          </a:p>
          <a:p>
            <a:r>
              <a:rPr sz="900" b="0"/>
              <a:t>Уровни запасов по узлам без учёта сети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120000" y="13316000"/>
            <a:ext cx="1910000" cy="620000"/>
          </a:xfrm>
          <a:prstGeom prst="roundRect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/>
              <a:t>Анализ предупреждений расчёта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20000" y="14036000"/>
            <a:ext cx="1910000" cy="13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Предупреждение: покрытие превышает остаточный срок годности</a:t>
            </a:r>
          </a:p>
          <a:p>
            <a:r>
              <a:rPr sz="900" b="0"/>
              <a:t>Предупреждение: рекомендованный уровень ниже минимальной партии</a:t>
            </a:r>
          </a:p>
          <a:p>
            <a:r>
              <a:rPr sz="900" b="0"/>
              <a:t>Предупреждение: целевой запас не помещается в мощности хранения</a:t>
            </a:r>
          </a:p>
          <a:p>
            <a:r>
              <a:rPr sz="900" b="0"/>
              <a:t>Предупреждение: отклонение от целевого уровня сервиса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120000" y="15530000"/>
            <a:ext cx="1910000" cy="620000"/>
          </a:xfrm>
          <a:prstGeom prst="rect">
            <a:avLst/>
          </a:prstGeom>
          <a:solidFill>
            <a:schemeClr val="accent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/>
              <a:t>Уровни запасов в SNP/PS и MRP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0120000" y="980000"/>
            <a:ext cx="2030000" cy="130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120000" y="500000"/>
            <a:ext cx="203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/>
              <a:t>Оценка эффектов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0180000" y="1040000"/>
            <a:ext cx="1910000" cy="620000"/>
          </a:xfrm>
          <a:prstGeom prst="roundRect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/>
              <a:t>Отчёт по ошибке прогноза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180000" y="1760000"/>
            <a:ext cx="1910000" cy="33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Прогноз спроса из DP</a:t>
            </a:r>
          </a:p>
          <a:p>
            <a:r>
              <a:rPr sz="900" b="0"/>
              <a:t>Фактические отгрузки за период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10180000" y="2246000"/>
            <a:ext cx="1910000" cy="620000"/>
          </a:xfrm>
          <a:prstGeom prst="roundRect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/>
              <a:t>Отчёт по сегментации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180000" y="2966000"/>
            <a:ext cx="1910000" cy="33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Сегментация по пяти признакам</a:t>
            </a:r>
          </a:p>
          <a:p>
            <a:r>
              <a:rPr sz="900" b="0"/>
              <a:t>Классы ABC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10180000" y="3452000"/>
            <a:ext cx="1910000" cy="620000"/>
          </a:xfrm>
          <a:prstGeom prst="roundRect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/>
              <a:t>Отчёт по страховым запасам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180000" y="4172000"/>
            <a:ext cx="1910000" cy="50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Рекомендованные уровни запасов по эшелонам</a:t>
            </a:r>
          </a:p>
          <a:p>
            <a:r>
              <a:rPr sz="900" b="0"/>
              <a:t>Три сценария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10180000" y="4826000"/>
            <a:ext cx="1910000" cy="620000"/>
          </a:xfrm>
          <a:prstGeom prst="roundRect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/>
              <a:t>Отчёт по OTIF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180000" y="5546000"/>
            <a:ext cx="1910000" cy="11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Заказы клиентов: даты и количества</a:t>
            </a:r>
          </a:p>
          <a:p>
            <a:r>
              <a:rPr sz="900" b="0"/>
              <a:t>Фактические отгрузки: даты и количества</a:t>
            </a:r>
          </a:p>
          <a:p>
            <a:r>
              <a:rPr sz="900" b="0"/>
              <a:t>Целевой OTIF по каналам и сетям</a:t>
            </a:r>
          </a:p>
          <a:p>
            <a:r>
              <a:rPr sz="900" b="0"/>
              <a:t>Опубликованные нормативы прошлого цикла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10180000" y="6872000"/>
            <a:ext cx="1910000" cy="620000"/>
          </a:xfrm>
          <a:prstGeom prst="roundRect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/>
              <a:t>Оценка эффектов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180000" y="7592000"/>
            <a:ext cx="1910000" cy="6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Ошибка прогноза по горизонту</a:t>
            </a:r>
          </a:p>
          <a:p>
            <a:r>
              <a:rPr sz="900" b="0"/>
              <a:t>Отчёт по сегментации</a:t>
            </a:r>
          </a:p>
          <a:p>
            <a:r>
              <a:rPr sz="900" b="0"/>
              <a:t>Отчёт по страховым запасам</a:t>
            </a:r>
          </a:p>
          <a:p>
            <a:r>
              <a:rPr sz="900" b="0"/>
              <a:t>Сравнение сценариев по эффектам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10180000" y="8414000"/>
            <a:ext cx="1910000" cy="620000"/>
          </a:xfrm>
          <a:prstGeom prst="roundRect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/>
              <a:t>Передача нормативов по запасам в SNP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180000" y="9134000"/>
            <a:ext cx="1910000" cy="10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Утверждённые уровни запасов по эшелонам</a:t>
            </a:r>
          </a:p>
          <a:p>
            <a:r>
              <a:rPr sz="900" b="0"/>
              <a:t>Точка заказа и рекомендованный уровень сервиса</a:t>
            </a:r>
          </a:p>
          <a:p>
            <a:r>
              <a:rPr sz="900" b="0"/>
              <a:t>Горизонт и дата вступления в силу</a:t>
            </a:r>
          </a:p>
        </p:txBody>
      </p:sp>
      <p:sp>
        <p:nvSpPr>
          <p:cNvPr id="63" name="Rectangle 62"/>
          <p:cNvSpPr/>
          <p:nvPr/>
        </p:nvSpPr>
        <p:spPr>
          <a:xfrm>
            <a:off x="10180000" y="10292000"/>
            <a:ext cx="1910000" cy="620000"/>
          </a:xfrm>
          <a:prstGeom prst="rect">
            <a:avLst/>
          </a:prstGeom>
          <a:solidFill>
            <a:schemeClr val="accent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/>
              <a:t>Оценка эффектов и рекомендации</a:t>
            </a:r>
          </a:p>
        </p:txBody>
      </p:sp>
      <p:sp>
        <p:nvSpPr>
          <p:cNvPr id="64" name="Rectangle 63"/>
          <p:cNvSpPr/>
          <p:nvPr/>
        </p:nvSpPr>
        <p:spPr>
          <a:xfrm>
            <a:off x="10180000" y="11062000"/>
            <a:ext cx="1910000" cy="620000"/>
          </a:xfrm>
          <a:prstGeom prst="rect">
            <a:avLst/>
          </a:prstGeom>
          <a:solidFill>
            <a:schemeClr val="accent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/>
              <a:t>Нормативы запасов в SNP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00000" y="980000"/>
            <a:ext cx="1600000" cy="620000"/>
          </a:xfrm>
          <a:prstGeom prst="rect">
            <a:avLst/>
          </a:prstGeom>
          <a:solidFill>
            <a:schemeClr val="accent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/>
              <a:t>Структура текущих запасов и фактические отгрузки из ERP</a:t>
            </a:r>
          </a:p>
        </p:txBody>
      </p:sp>
      <p:sp>
        <p:nvSpPr>
          <p:cNvPr id="66" name="Rectangle 65"/>
          <p:cNvSpPr/>
          <p:nvPr/>
        </p:nvSpPr>
        <p:spPr>
          <a:xfrm>
            <a:off x="100000" y="1956000"/>
            <a:ext cx="1600000" cy="620000"/>
          </a:xfrm>
          <a:prstGeom prst="rect">
            <a:avLst/>
          </a:prstGeom>
          <a:solidFill>
            <a:schemeClr val="accent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/>
              <a:t>Спрос и волатильность из DP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00000" y="2932000"/>
            <a:ext cx="1600000" cy="620000"/>
          </a:xfrm>
          <a:prstGeom prst="rect">
            <a:avLst/>
          </a:prstGeom>
          <a:solidFill>
            <a:schemeClr val="accent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/>
              <a:t>Ошибка прогноза по горизонту из DP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00000" y="3908000"/>
            <a:ext cx="1600000" cy="620000"/>
          </a:xfrm>
          <a:prstGeom prst="rect">
            <a:avLst/>
          </a:prstGeom>
          <a:solidFill>
            <a:schemeClr val="accent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/>
              <a:t>Параметры цепочки из ERP</a:t>
            </a:r>
          </a:p>
        </p:txBody>
      </p:sp>
      <p:sp>
        <p:nvSpPr>
          <p:cNvPr id="69" name="Rectangle 68"/>
          <p:cNvSpPr/>
          <p:nvPr/>
        </p:nvSpPr>
        <p:spPr>
          <a:xfrm>
            <a:off x="100000" y="4884000"/>
            <a:ext cx="1600000" cy="620000"/>
          </a:xfrm>
          <a:prstGeom prst="rect">
            <a:avLst/>
          </a:prstGeom>
          <a:solidFill>
            <a:schemeClr val="accent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/>
              <a:t>Сроки годности и требования сетей к остаточному сроку из ERP</a:t>
            </a:r>
          </a:p>
        </p:txBody>
      </p:sp>
      <p:sp>
        <p:nvSpPr>
          <p:cNvPr id="70" name="Rectangle 69"/>
          <p:cNvSpPr/>
          <p:nvPr/>
        </p:nvSpPr>
        <p:spPr>
          <a:xfrm>
            <a:off x="100000" y="5860000"/>
            <a:ext cx="1600000" cy="620000"/>
          </a:xfrm>
          <a:prstGeom prst="rect">
            <a:avLst/>
          </a:prstGeom>
          <a:solidFill>
            <a:schemeClr val="accent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/>
              <a:t>Мастер-данные номенклатуры из ERP</a:t>
            </a:r>
          </a:p>
        </p:txBody>
      </p:sp>
      <p:cxnSp>
        <p:nvCxnSpPr>
          <p:cNvPr id="71" name="Connector 70"/>
          <p:cNvCxnSpPr>
            <a:stCxn id="4" idx="2"/>
            <a:endCxn id="6" idx="0"/>
          </p:cNvCxnSpPr>
          <p:nvPr/>
        </p:nvCxnSpPr>
        <p:spPr>
          <a:xfrm>
            <a:off x="2895000" y="1660000"/>
            <a:ext cx="0" cy="9658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>
            <a:stCxn id="6" idx="2"/>
            <a:endCxn id="8" idx="0"/>
          </p:cNvCxnSpPr>
          <p:nvPr/>
        </p:nvCxnSpPr>
        <p:spPr>
          <a:xfrm>
            <a:off x="2895000" y="11938000"/>
            <a:ext cx="0" cy="1258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>
            <a:stCxn id="8" idx="0"/>
            <a:endCxn id="12" idx="2"/>
          </p:cNvCxnSpPr>
          <p:nvPr/>
        </p:nvCxnSpPr>
        <p:spPr>
          <a:xfrm flipV="1">
            <a:off x="2895000" y="1660000"/>
            <a:ext cx="2060000" cy="11536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>
            <a:stCxn id="12" idx="2"/>
            <a:endCxn id="14" idx="0"/>
          </p:cNvCxnSpPr>
          <p:nvPr/>
        </p:nvCxnSpPr>
        <p:spPr>
          <a:xfrm>
            <a:off x="4955000" y="1660000"/>
            <a:ext cx="0" cy="1594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>
            <a:stCxn id="12" idx="2"/>
            <a:endCxn id="18" idx="0"/>
          </p:cNvCxnSpPr>
          <p:nvPr/>
        </p:nvCxnSpPr>
        <p:spPr>
          <a:xfrm>
            <a:off x="4955000" y="1660000"/>
            <a:ext cx="0" cy="5182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>
            <a:stCxn id="12" idx="2"/>
            <a:endCxn id="22" idx="0"/>
          </p:cNvCxnSpPr>
          <p:nvPr/>
        </p:nvCxnSpPr>
        <p:spPr>
          <a:xfrm>
            <a:off x="4955000" y="1660000"/>
            <a:ext cx="0" cy="8266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>
            <a:stCxn id="14" idx="2"/>
            <a:endCxn id="16" idx="0"/>
          </p:cNvCxnSpPr>
          <p:nvPr/>
        </p:nvCxnSpPr>
        <p:spPr>
          <a:xfrm>
            <a:off x="4955000" y="3874000"/>
            <a:ext cx="0" cy="1258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>
            <a:stCxn id="18" idx="2"/>
            <a:endCxn id="20" idx="0"/>
          </p:cNvCxnSpPr>
          <p:nvPr/>
        </p:nvCxnSpPr>
        <p:spPr>
          <a:xfrm>
            <a:off x="4955000" y="7462000"/>
            <a:ext cx="0" cy="754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>
            <a:stCxn id="22" idx="2"/>
            <a:endCxn id="24" idx="0"/>
          </p:cNvCxnSpPr>
          <p:nvPr/>
        </p:nvCxnSpPr>
        <p:spPr>
          <a:xfrm>
            <a:off x="4955000" y="10546000"/>
            <a:ext cx="0" cy="922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>
            <a:stCxn id="16" idx="0"/>
            <a:endCxn id="28" idx="2"/>
          </p:cNvCxnSpPr>
          <p:nvPr/>
        </p:nvCxnSpPr>
        <p:spPr>
          <a:xfrm flipV="1">
            <a:off x="4955000" y="1660000"/>
            <a:ext cx="2060000" cy="3472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>
            <a:stCxn id="28" idx="2"/>
            <a:endCxn id="30" idx="0"/>
          </p:cNvCxnSpPr>
          <p:nvPr/>
        </p:nvCxnSpPr>
        <p:spPr>
          <a:xfrm>
            <a:off x="7015000" y="1660000"/>
            <a:ext cx="0" cy="754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>
            <a:stCxn id="30" idx="3"/>
            <a:endCxn id="34" idx="1"/>
          </p:cNvCxnSpPr>
          <p:nvPr/>
        </p:nvCxnSpPr>
        <p:spPr>
          <a:xfrm flipV="1">
            <a:off x="7970000" y="1350000"/>
            <a:ext cx="150000" cy="1374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>
            <a:stCxn id="34" idx="2"/>
            <a:endCxn id="36" idx="0"/>
          </p:cNvCxnSpPr>
          <p:nvPr/>
        </p:nvCxnSpPr>
        <p:spPr>
          <a:xfrm>
            <a:off x="9075000" y="1660000"/>
            <a:ext cx="0" cy="922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>
            <a:stCxn id="36" idx="2"/>
            <a:endCxn id="38" idx="0"/>
          </p:cNvCxnSpPr>
          <p:nvPr/>
        </p:nvCxnSpPr>
        <p:spPr>
          <a:xfrm>
            <a:off x="9075000" y="3202000"/>
            <a:ext cx="0" cy="1090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>
            <a:stCxn id="36" idx="2"/>
            <a:endCxn id="40" idx="0"/>
          </p:cNvCxnSpPr>
          <p:nvPr/>
        </p:nvCxnSpPr>
        <p:spPr>
          <a:xfrm>
            <a:off x="9075000" y="3202000"/>
            <a:ext cx="0" cy="3472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>
            <a:stCxn id="38" idx="2"/>
            <a:endCxn id="42" idx="0"/>
          </p:cNvCxnSpPr>
          <p:nvPr/>
        </p:nvCxnSpPr>
        <p:spPr>
          <a:xfrm>
            <a:off x="9075000" y="4912000"/>
            <a:ext cx="0" cy="3808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>
            <a:stCxn id="40" idx="2"/>
            <a:endCxn id="44" idx="0"/>
          </p:cNvCxnSpPr>
          <p:nvPr/>
        </p:nvCxnSpPr>
        <p:spPr>
          <a:xfrm>
            <a:off x="9075000" y="7294000"/>
            <a:ext cx="0" cy="4312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>
            <a:stCxn id="42" idx="2"/>
            <a:endCxn id="44" idx="0"/>
          </p:cNvCxnSpPr>
          <p:nvPr/>
        </p:nvCxnSpPr>
        <p:spPr>
          <a:xfrm>
            <a:off x="9075000" y="9340000"/>
            <a:ext cx="0" cy="2266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>
            <a:stCxn id="42" idx="2"/>
            <a:endCxn id="46" idx="0"/>
          </p:cNvCxnSpPr>
          <p:nvPr/>
        </p:nvCxnSpPr>
        <p:spPr>
          <a:xfrm>
            <a:off x="9075000" y="9340000"/>
            <a:ext cx="0" cy="3976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>
            <a:stCxn id="44" idx="0"/>
            <a:endCxn id="55" idx="2"/>
          </p:cNvCxnSpPr>
          <p:nvPr/>
        </p:nvCxnSpPr>
        <p:spPr>
          <a:xfrm flipV="1">
            <a:off x="9075000" y="4072000"/>
            <a:ext cx="2060000" cy="7534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>
            <a:stCxn id="42" idx="0"/>
            <a:endCxn id="51" idx="2"/>
          </p:cNvCxnSpPr>
          <p:nvPr/>
        </p:nvCxnSpPr>
        <p:spPr>
          <a:xfrm flipV="1">
            <a:off x="9075000" y="1660000"/>
            <a:ext cx="2060000" cy="7060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>
            <a:stCxn id="42" idx="0"/>
            <a:endCxn id="53" idx="2"/>
          </p:cNvCxnSpPr>
          <p:nvPr/>
        </p:nvCxnSpPr>
        <p:spPr>
          <a:xfrm flipV="1">
            <a:off x="9075000" y="2866000"/>
            <a:ext cx="2060000" cy="5854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>
            <a:stCxn id="51" idx="2"/>
            <a:endCxn id="59" idx="0"/>
          </p:cNvCxnSpPr>
          <p:nvPr/>
        </p:nvCxnSpPr>
        <p:spPr>
          <a:xfrm>
            <a:off x="11135000" y="1660000"/>
            <a:ext cx="0" cy="5212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>
            <a:stCxn id="53" idx="2"/>
            <a:endCxn id="59" idx="0"/>
          </p:cNvCxnSpPr>
          <p:nvPr/>
        </p:nvCxnSpPr>
        <p:spPr>
          <a:xfrm>
            <a:off x="11135000" y="2866000"/>
            <a:ext cx="0" cy="4006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>
            <a:stCxn id="55" idx="2"/>
            <a:endCxn id="59" idx="0"/>
          </p:cNvCxnSpPr>
          <p:nvPr/>
        </p:nvCxnSpPr>
        <p:spPr>
          <a:xfrm>
            <a:off x="11135000" y="4072000"/>
            <a:ext cx="0" cy="2800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>
            <a:stCxn id="59" idx="2"/>
            <a:endCxn id="61" idx="0"/>
          </p:cNvCxnSpPr>
          <p:nvPr/>
        </p:nvCxnSpPr>
        <p:spPr>
          <a:xfrm>
            <a:off x="11135000" y="7492000"/>
            <a:ext cx="0" cy="922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>
            <a:stCxn id="57" idx="2"/>
            <a:endCxn id="59" idx="0"/>
          </p:cNvCxnSpPr>
          <p:nvPr/>
        </p:nvCxnSpPr>
        <p:spPr>
          <a:xfrm>
            <a:off x="11135000" y="5446000"/>
            <a:ext cx="0" cy="1426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>
            <a:stCxn id="65" idx="3"/>
            <a:endCxn id="4" idx="1"/>
          </p:cNvCxnSpPr>
          <p:nvPr/>
        </p:nvCxnSpPr>
        <p:spPr>
          <a:xfrm>
            <a:off x="1700000" y="1290000"/>
            <a:ext cx="240000" cy="60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>
            <a:stCxn id="66" idx="3"/>
            <a:endCxn id="14" idx="1"/>
          </p:cNvCxnSpPr>
          <p:nvPr/>
        </p:nvCxnSpPr>
        <p:spPr>
          <a:xfrm>
            <a:off x="1700000" y="2266000"/>
            <a:ext cx="2300000" cy="129800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>
            <a:stCxn id="67" idx="3"/>
            <a:endCxn id="14" idx="1"/>
          </p:cNvCxnSpPr>
          <p:nvPr/>
        </p:nvCxnSpPr>
        <p:spPr>
          <a:xfrm>
            <a:off x="1700000" y="3242000"/>
            <a:ext cx="2300000" cy="32200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>
            <a:stCxn id="68" idx="3"/>
            <a:endCxn id="12" idx="1"/>
          </p:cNvCxnSpPr>
          <p:nvPr/>
        </p:nvCxnSpPr>
        <p:spPr>
          <a:xfrm flipV="1">
            <a:off x="1700000" y="1350000"/>
            <a:ext cx="2300000" cy="286800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>
            <a:stCxn id="69" idx="3"/>
            <a:endCxn id="12" idx="1"/>
          </p:cNvCxnSpPr>
          <p:nvPr/>
        </p:nvCxnSpPr>
        <p:spPr>
          <a:xfrm flipV="1">
            <a:off x="1700000" y="1350000"/>
            <a:ext cx="2300000" cy="384400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>
            <a:stCxn id="70" idx="3"/>
            <a:endCxn id="28" idx="1"/>
          </p:cNvCxnSpPr>
          <p:nvPr/>
        </p:nvCxnSpPr>
        <p:spPr>
          <a:xfrm flipV="1">
            <a:off x="1700000" y="1350000"/>
            <a:ext cx="4360000" cy="482000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>
            <a:stCxn id="38" idx="2"/>
            <a:endCxn id="48" idx="0"/>
          </p:cNvCxnSpPr>
          <p:nvPr/>
        </p:nvCxnSpPr>
        <p:spPr>
          <a:xfrm>
            <a:off x="9075000" y="4912000"/>
            <a:ext cx="0" cy="10618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>
            <a:stCxn id="59" idx="2"/>
            <a:endCxn id="63" idx="0"/>
          </p:cNvCxnSpPr>
          <p:nvPr/>
        </p:nvCxnSpPr>
        <p:spPr>
          <a:xfrm>
            <a:off x="11135000" y="7492000"/>
            <a:ext cx="0" cy="2800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>
            <a:stCxn id="61" idx="2"/>
            <a:endCxn id="64" idx="0"/>
          </p:cNvCxnSpPr>
          <p:nvPr/>
        </p:nvCxnSpPr>
        <p:spPr>
          <a:xfrm>
            <a:off x="11135000" y="9034000"/>
            <a:ext cx="0" cy="2028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