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140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2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443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5150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630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7028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4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расчёта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1760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 и приоритеты источников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00000" y="325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волатильности спроса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397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История отгрузок за период</a:t>
            </a:r>
          </a:p>
          <a:p>
            <a:r>
              <a:rPr sz="900" b="0"/>
              <a:t>Незакрытый спрос и списания</a:t>
            </a:r>
          </a:p>
          <a:p>
            <a:r>
              <a:rPr sz="900" b="0"/>
              <a:t>Ошибка прогноза по горизонту из DP</a:t>
            </a:r>
          </a:p>
          <a:p>
            <a:r>
              <a:rPr sz="900" b="0"/>
              <a:t>Собственная история прогноза и факта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00000" y="513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спроса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585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спроса</a:t>
            </a:r>
          </a:p>
          <a:p>
            <a:r>
              <a:rPr sz="900" b="0"/>
              <a:t>Новинки без истории</a:t>
            </a:r>
          </a:p>
          <a:p>
            <a:r>
              <a:rPr sz="900" b="0"/>
              <a:t>Позиции со сменой режима поставки</a:t>
            </a:r>
          </a:p>
          <a:p>
            <a:r>
              <a:rPr sz="900" b="0"/>
              <a:t>Экспертная правка по сегментам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00000" y="684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поставок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756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поставок</a:t>
            </a:r>
          </a:p>
          <a:p>
            <a:r>
              <a:rPr sz="900" b="0"/>
              <a:t>Отклонения по дугам сети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000" y="82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поставок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000" y="893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поставок</a:t>
            </a:r>
          </a:p>
          <a:p>
            <a:r>
              <a:rPr sz="900" b="0"/>
              <a:t>Новые поставщики и маршруты без истории</a:t>
            </a:r>
          </a:p>
          <a:p>
            <a:r>
              <a:rPr sz="900" b="0"/>
              <a:t>Согласованные изменения условий поставки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0000" y="99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CV длительности производства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000" y="106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и фактические длительности производства</a:t>
            </a:r>
          </a:p>
          <a:p>
            <a:r>
              <a:rPr sz="900" b="0"/>
              <a:t>Отклонения по производственным заказам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00000" y="114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Корректировка CV длительности производства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000" y="12188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CV длительности производства</a:t>
            </a:r>
          </a:p>
          <a:p>
            <a:r>
              <a:rPr sz="900" b="0"/>
              <a:t>Плановые остановки и ремонты</a:t>
            </a:r>
          </a:p>
          <a:p>
            <a:r>
              <a:rPr sz="900" b="0"/>
              <a:t>Изменения схемы разделки и глубины переработки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0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Сегментация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ABC-классификация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6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Вклад в оборот</a:t>
            </a:r>
          </a:p>
          <a:p>
            <a:r>
              <a:rPr sz="900" b="0"/>
              <a:t>Вклад в объём</a:t>
            </a:r>
          </a:p>
          <a:p>
            <a:r>
              <a:rPr sz="900" b="0"/>
              <a:t>Пороги классов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6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0000" y="3134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Lifecycle: стадия жизненного цикла</a:t>
            </a:r>
          </a:p>
          <a:p>
            <a:r>
              <a:rPr sz="900" b="0"/>
              <a:t>ADI-CV: характер спроса</a:t>
            </a:r>
          </a:p>
          <a:p>
            <a:r>
              <a:rPr sz="900" b="0"/>
              <a:t>ABC: вклад в оборот</a:t>
            </a:r>
          </a:p>
          <a:p>
            <a:r>
              <a:rPr sz="900" b="0"/>
              <a:t>FMR: частота обращения</a:t>
            </a:r>
          </a:p>
          <a:p>
            <a:r>
              <a:rPr sz="900" b="0"/>
              <a:t>XYZ: стабильность потребления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6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Определение стратегии MTS-MTO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Длительность цикла против срока ожидания клиента</a:t>
            </a:r>
          </a:p>
          <a:p>
            <a:r>
              <a:rPr sz="900" b="0"/>
              <a:t>Срок годности позиции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2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Выбор политики пополнения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20000" y="3302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Стратегия MTS или MTO по позиции</a:t>
            </a:r>
          </a:p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Календари пополнения</a:t>
            </a:r>
          </a:p>
          <a:p>
            <a:r>
              <a:rPr sz="900" b="0"/>
              <a:t>Минимальный размер партии и кратность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20000" y="429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Мультиэшелонная оптимизация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20000" y="5012000"/>
            <a:ext cx="1910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  <a:p>
            <a:r>
              <a:rPr sz="900" b="0"/>
              <a:t>Ограничения: мощности, бюджет, срок годности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20000" y="667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Изолированная оптимизация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0000" y="7394000"/>
            <a:ext cx="1910000" cy="11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Настроенные параметры расчёта</a:t>
            </a:r>
          </a:p>
          <a:p>
            <a:r>
              <a:rPr sz="900" b="0"/>
              <a:t>Скорректированный CV спроса</a:t>
            </a:r>
          </a:p>
          <a:p>
            <a:r>
              <a:rPr sz="900" b="0"/>
              <a:t>Скорректированный CV длительности поставок</a:t>
            </a:r>
          </a:p>
          <a:p>
            <a:r>
              <a:rPr sz="900" b="0"/>
              <a:t>Скорректированный CV длительности производства</a:t>
            </a:r>
          </a:p>
          <a:p>
            <a:r>
              <a:rPr sz="900" b="0"/>
              <a:t>Политика пополнения по позиции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20000" y="872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Сценарное моделирование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0000" y="9440000"/>
            <a:ext cx="1910000" cy="2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База (as is): текущие политики и параметры</a:t>
            </a:r>
          </a:p>
          <a:p>
            <a:r>
              <a:rPr sz="900" b="0"/>
              <a:t>Пересчёт по фильтрам: склад, канал, категория, сегмент</a:t>
            </a:r>
          </a:p>
          <a:p>
            <a:r>
              <a:rPr sz="900" b="0"/>
              <a:t>Сервис 98% по федеральным сетям</a:t>
            </a:r>
          </a:p>
          <a:p>
            <a:r>
              <a:rPr sz="900" b="0"/>
              <a:t>Учащённое пополнение охлаждённой продукции</a:t>
            </a:r>
          </a:p>
          <a:p>
            <a:r>
              <a:rPr sz="900" b="0"/>
              <a:t>Сокращение лидтайма и его разброса</a:t>
            </a:r>
          </a:p>
          <a:p>
            <a:r>
              <a:rPr sz="900" b="0"/>
              <a:t>Ограничение по мощностям холода</a:t>
            </a:r>
          </a:p>
          <a:p>
            <a:r>
              <a:rPr sz="900" b="0"/>
              <a:t>Бюджет запаса −15%</a:t>
            </a:r>
          </a:p>
          <a:p>
            <a:r>
              <a:rPr sz="900" b="0"/>
              <a:t>Сезонный пик: май–сентябрь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20000" y="1160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Сравнение со страховыми запасами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0000" y="12326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Действующие страховые запасы</a:t>
            </a:r>
          </a:p>
          <a:p>
            <a:r>
              <a:rPr sz="900" b="0"/>
              <a:t>Уровни запасов по узлам без учёта сети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20000" y="1331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предупреждений расчёта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20000" y="14036000"/>
            <a:ext cx="1910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Предупреждение: покрытие превышает остаточный срок годности</a:t>
            </a:r>
          </a:p>
          <a:p>
            <a:r>
              <a:rPr sz="900" b="0"/>
              <a:t>Предупреждение: рекомендованный уровень ниже минимальной партии</a:t>
            </a:r>
          </a:p>
          <a:p>
            <a:r>
              <a:rPr sz="900" b="0"/>
              <a:t>Предупреждение: целевой запас не помещается в мощности хранения</a:t>
            </a:r>
          </a:p>
          <a:p>
            <a:r>
              <a:rPr sz="900" b="0"/>
              <a:t>Предупреждение: отклонение от целевого уровня сервиса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20000" y="15530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20000" y="980000"/>
            <a:ext cx="2030000" cy="130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ошибке прогноза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80000" y="1760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Прогноз спроса из DP</a:t>
            </a:r>
          </a:p>
          <a:p>
            <a:r>
              <a:rPr sz="900" b="0"/>
              <a:t>Фактические отгрузки за период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80000" y="224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сегментации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0000" y="2966000"/>
            <a:ext cx="1910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Сегментация по пяти признакам</a:t>
            </a:r>
          </a:p>
          <a:p>
            <a:r>
              <a:rPr sz="900" b="0"/>
              <a:t>Классы ABC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180000" y="345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Отчёт по страховым запасам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0000" y="4172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Рекомендованные уровни запасов по эшелонам</a:t>
            </a:r>
          </a:p>
          <a:p>
            <a:r>
              <a:rPr sz="900" b="0"/>
              <a:t>Три сценария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180000" y="482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80000" y="5546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Ошибка прогноза по горизонту</a:t>
            </a:r>
          </a:p>
          <a:p>
            <a:r>
              <a:rPr sz="900" b="0"/>
              <a:t>Отчёт по сегментации</a:t>
            </a:r>
          </a:p>
          <a:p>
            <a:r>
              <a:rPr sz="900" b="0"/>
              <a:t>Отчёт по страховым запасам</a:t>
            </a:r>
          </a:p>
          <a:p>
            <a:r>
              <a:rPr sz="900" b="0"/>
              <a:t>Сравнение сценариев по эффектам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180000" y="6368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Передача нормативов по запасам в SNP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80000" y="7088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Утверждённые уровни запасов по эшелонам</a:t>
            </a:r>
          </a:p>
          <a:p>
            <a:r>
              <a:rPr sz="900" b="0"/>
              <a:t>Точка заказа и рекомендованный уровень сервиса</a:t>
            </a:r>
          </a:p>
          <a:p>
            <a:r>
              <a:rPr sz="900" b="0"/>
              <a:t>Горизонт и дата вступления в силу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80000" y="8246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180000" y="9016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Нормативы запасов в SNP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000" y="1956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000" y="2932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000" y="3908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0000" y="4884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Мастер-данные номенклатуры из ERP</a:t>
            </a:r>
          </a:p>
        </p:txBody>
      </p:sp>
      <p:cxnSp>
        <p:nvCxnSpPr>
          <p:cNvPr id="69" name="Connector 68"/>
          <p:cNvCxnSpPr>
            <a:stCxn id="4" idx="2"/>
            <a:endCxn id="6" idx="0"/>
          </p:cNvCxnSpPr>
          <p:nvPr/>
        </p:nvCxnSpPr>
        <p:spPr>
          <a:xfrm>
            <a:off x="2895000" y="1660000"/>
            <a:ext cx="0" cy="2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>
            <a:stCxn id="6" idx="2"/>
            <a:endCxn id="8" idx="0"/>
          </p:cNvCxnSpPr>
          <p:nvPr/>
        </p:nvCxnSpPr>
        <p:spPr>
          <a:xfrm>
            <a:off x="2895000" y="5050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>
            <a:stCxn id="8" idx="0"/>
            <a:endCxn id="12" idx="2"/>
          </p:cNvCxnSpPr>
          <p:nvPr/>
        </p:nvCxnSpPr>
        <p:spPr>
          <a:xfrm flipV="1">
            <a:off x="2895000" y="1660000"/>
            <a:ext cx="2060000" cy="464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>
            <a:stCxn id="12" idx="2"/>
            <a:endCxn id="14" idx="0"/>
          </p:cNvCxnSpPr>
          <p:nvPr/>
        </p:nvCxnSpPr>
        <p:spPr>
          <a:xfrm>
            <a:off x="49550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>
            <a:stCxn id="12" idx="2"/>
            <a:endCxn id="18" idx="0"/>
          </p:cNvCxnSpPr>
          <p:nvPr/>
        </p:nvCxnSpPr>
        <p:spPr>
          <a:xfrm>
            <a:off x="4955000" y="1660000"/>
            <a:ext cx="0" cy="518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>
            <a:stCxn id="12" idx="2"/>
            <a:endCxn id="22" idx="0"/>
          </p:cNvCxnSpPr>
          <p:nvPr/>
        </p:nvCxnSpPr>
        <p:spPr>
          <a:xfrm>
            <a:off x="4955000" y="1660000"/>
            <a:ext cx="0" cy="8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>
            <a:stCxn id="14" idx="2"/>
            <a:endCxn id="16" idx="0"/>
          </p:cNvCxnSpPr>
          <p:nvPr/>
        </p:nvCxnSpPr>
        <p:spPr>
          <a:xfrm>
            <a:off x="4955000" y="3874000"/>
            <a:ext cx="0" cy="125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>
            <a:stCxn id="18" idx="2"/>
            <a:endCxn id="20" idx="0"/>
          </p:cNvCxnSpPr>
          <p:nvPr/>
        </p:nvCxnSpPr>
        <p:spPr>
          <a:xfrm>
            <a:off x="4955000" y="746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>
            <a:stCxn id="22" idx="2"/>
            <a:endCxn id="24" idx="0"/>
          </p:cNvCxnSpPr>
          <p:nvPr/>
        </p:nvCxnSpPr>
        <p:spPr>
          <a:xfrm>
            <a:off x="4955000" y="105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>
            <a:stCxn id="16" idx="0"/>
            <a:endCxn id="28" idx="2"/>
          </p:cNvCxnSpPr>
          <p:nvPr/>
        </p:nvCxnSpPr>
        <p:spPr>
          <a:xfrm flipV="1">
            <a:off x="4955000" y="1660000"/>
            <a:ext cx="206000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>
            <a:stCxn id="28" idx="2"/>
            <a:endCxn id="30" idx="0"/>
          </p:cNvCxnSpPr>
          <p:nvPr/>
        </p:nvCxnSpPr>
        <p:spPr>
          <a:xfrm>
            <a:off x="701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>
            <a:stCxn id="30" idx="3"/>
            <a:endCxn id="34" idx="1"/>
          </p:cNvCxnSpPr>
          <p:nvPr/>
        </p:nvCxnSpPr>
        <p:spPr>
          <a:xfrm flipV="1">
            <a:off x="7970000" y="1350000"/>
            <a:ext cx="150000" cy="13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>
            <a:stCxn id="34" idx="2"/>
            <a:endCxn id="36" idx="0"/>
          </p:cNvCxnSpPr>
          <p:nvPr/>
        </p:nvCxnSpPr>
        <p:spPr>
          <a:xfrm>
            <a:off x="907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>
            <a:stCxn id="36" idx="2"/>
            <a:endCxn id="38" idx="0"/>
          </p:cNvCxnSpPr>
          <p:nvPr/>
        </p:nvCxnSpPr>
        <p:spPr>
          <a:xfrm>
            <a:off x="9075000" y="3202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>
            <a:stCxn id="36" idx="2"/>
            <a:endCxn id="40" idx="0"/>
          </p:cNvCxnSpPr>
          <p:nvPr/>
        </p:nvCxnSpPr>
        <p:spPr>
          <a:xfrm>
            <a:off x="9075000" y="3202000"/>
            <a:ext cx="0" cy="347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>
            <a:stCxn id="38" idx="2"/>
            <a:endCxn id="42" idx="0"/>
          </p:cNvCxnSpPr>
          <p:nvPr/>
        </p:nvCxnSpPr>
        <p:spPr>
          <a:xfrm>
            <a:off x="9075000" y="4912000"/>
            <a:ext cx="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>
            <a:stCxn id="40" idx="2"/>
            <a:endCxn id="44" idx="0"/>
          </p:cNvCxnSpPr>
          <p:nvPr/>
        </p:nvCxnSpPr>
        <p:spPr>
          <a:xfrm>
            <a:off x="9075000" y="7294000"/>
            <a:ext cx="0" cy="431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>
            <a:stCxn id="42" idx="2"/>
            <a:endCxn id="44" idx="0"/>
          </p:cNvCxnSpPr>
          <p:nvPr/>
        </p:nvCxnSpPr>
        <p:spPr>
          <a:xfrm>
            <a:off x="9075000" y="9340000"/>
            <a:ext cx="0" cy="22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>
            <a:stCxn id="42" idx="2"/>
            <a:endCxn id="46" idx="0"/>
          </p:cNvCxnSpPr>
          <p:nvPr/>
        </p:nvCxnSpPr>
        <p:spPr>
          <a:xfrm>
            <a:off x="9075000" y="9340000"/>
            <a:ext cx="0" cy="397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>
            <a:stCxn id="44" idx="0"/>
            <a:endCxn id="55" idx="2"/>
          </p:cNvCxnSpPr>
          <p:nvPr/>
        </p:nvCxnSpPr>
        <p:spPr>
          <a:xfrm flipV="1">
            <a:off x="9075000" y="4072000"/>
            <a:ext cx="2060000" cy="75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>
            <a:stCxn id="42" idx="0"/>
            <a:endCxn id="51" idx="2"/>
          </p:cNvCxnSpPr>
          <p:nvPr/>
        </p:nvCxnSpPr>
        <p:spPr>
          <a:xfrm flipV="1">
            <a:off x="9075000" y="1660000"/>
            <a:ext cx="2060000" cy="70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>
            <a:stCxn id="42" idx="0"/>
            <a:endCxn id="53" idx="2"/>
          </p:cNvCxnSpPr>
          <p:nvPr/>
        </p:nvCxnSpPr>
        <p:spPr>
          <a:xfrm flipV="1">
            <a:off x="9075000" y="2866000"/>
            <a:ext cx="2060000" cy="58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>
            <a:stCxn id="51" idx="2"/>
            <a:endCxn id="57" idx="0"/>
          </p:cNvCxnSpPr>
          <p:nvPr/>
        </p:nvCxnSpPr>
        <p:spPr>
          <a:xfrm>
            <a:off x="11135000" y="1660000"/>
            <a:ext cx="0" cy="316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>
            <a:stCxn id="53" idx="2"/>
            <a:endCxn id="57" idx="0"/>
          </p:cNvCxnSpPr>
          <p:nvPr/>
        </p:nvCxnSpPr>
        <p:spPr>
          <a:xfrm>
            <a:off x="11135000" y="2866000"/>
            <a:ext cx="0" cy="19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>
            <a:stCxn id="55" idx="2"/>
            <a:endCxn id="57" idx="0"/>
          </p:cNvCxnSpPr>
          <p:nvPr/>
        </p:nvCxnSpPr>
        <p:spPr>
          <a:xfrm>
            <a:off x="11135000" y="4072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>
            <a:stCxn id="57" idx="2"/>
            <a:endCxn id="59" idx="0"/>
          </p:cNvCxnSpPr>
          <p:nvPr/>
        </p:nvCxnSpPr>
        <p:spPr>
          <a:xfrm>
            <a:off x="11135000" y="5446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>
            <a:stCxn id="63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>
            <a:stCxn id="64" idx="3"/>
            <a:endCxn id="14" idx="1"/>
          </p:cNvCxnSpPr>
          <p:nvPr/>
        </p:nvCxnSpPr>
        <p:spPr>
          <a:xfrm>
            <a:off x="1700000" y="2266000"/>
            <a:ext cx="2300000" cy="129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>
            <a:stCxn id="65" idx="3"/>
            <a:endCxn id="14" idx="1"/>
          </p:cNvCxnSpPr>
          <p:nvPr/>
        </p:nvCxnSpPr>
        <p:spPr>
          <a:xfrm>
            <a:off x="1700000" y="3242000"/>
            <a:ext cx="2300000" cy="322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>
            <a:stCxn id="66" idx="3"/>
            <a:endCxn id="12" idx="1"/>
          </p:cNvCxnSpPr>
          <p:nvPr/>
        </p:nvCxnSpPr>
        <p:spPr>
          <a:xfrm flipV="1">
            <a:off x="1700000" y="1350000"/>
            <a:ext cx="2300000" cy="2868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>
            <a:stCxn id="67" idx="3"/>
            <a:endCxn id="12" idx="1"/>
          </p:cNvCxnSpPr>
          <p:nvPr/>
        </p:nvCxnSpPr>
        <p:spPr>
          <a:xfrm flipV="1">
            <a:off x="1700000" y="1350000"/>
            <a:ext cx="2300000" cy="3844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>
            <a:stCxn id="68" idx="3"/>
            <a:endCxn id="28" idx="1"/>
          </p:cNvCxnSpPr>
          <p:nvPr/>
        </p:nvCxnSpPr>
        <p:spPr>
          <a:xfrm flipV="1">
            <a:off x="1700000" y="1350000"/>
            <a:ext cx="4360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>
            <a:stCxn id="38" idx="2"/>
            <a:endCxn id="48" idx="0"/>
          </p:cNvCxnSpPr>
          <p:nvPr/>
        </p:nvCxnSpPr>
        <p:spPr>
          <a:xfrm>
            <a:off x="9075000" y="4912000"/>
            <a:ext cx="0" cy="1061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>
            <a:stCxn id="57" idx="2"/>
            <a:endCxn id="61" idx="0"/>
          </p:cNvCxnSpPr>
          <p:nvPr/>
        </p:nvCxnSpPr>
        <p:spPr>
          <a:xfrm>
            <a:off x="11135000" y="5446000"/>
            <a:ext cx="0" cy="280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>
            <a:stCxn id="59" idx="2"/>
            <a:endCxn id="62" idx="0"/>
          </p:cNvCxnSpPr>
          <p:nvPr/>
        </p:nvCxnSpPr>
        <p:spPr>
          <a:xfrm>
            <a:off x="11135000" y="6988000"/>
            <a:ext cx="0" cy="202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